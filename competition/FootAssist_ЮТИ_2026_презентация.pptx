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685800"/>
            <a:ext cx="4937760" cy="4937760"/>
          </a:xfrm>
          <a:prstGeom prst="arc">
            <a:avLst/>
          </a:prstGeom>
          <a:noFill/>
          <a:ln w="13970">
            <a:solidFill>
              <a:srgbClr val="1FA85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669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Всероссийский конкурс «Юные техники и инновационные лидеры»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FootAssist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</a:rPr>
              <a:t>Цифровая платформа для школьного футбола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Рейтинг, прогресс, состав, травмы, турнир, чат и QR-доступ в одном приложении для школьной команды.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8404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014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Номинация: ИТ-решения в образовании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152144"/>
            <a:ext cx="3063240" cy="4343400"/>
          </a:xfrm>
          <a:prstGeom prst="roundRect">
            <a:avLst>
              <a:gd name="adj" fmla="val 35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6488" y="1490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FCE7"/>
                </a:solidFill>
              </a:rPr>
              <a:t>Live demo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85632" y="1874520"/>
            <a:ext cx="2468880" cy="1417320"/>
          </a:xfrm>
          <a:prstGeom prst="rect">
            <a:avLst/>
          </a:prstGeom>
          <a:solidFill>
            <a:srgbClr val="14532D">
              <a:alpha val="88000"/>
            </a:srgbClr>
          </a:solidFill>
          <a:ln w="12700">
            <a:solidFill>
              <a:srgbClr val="86EFA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2450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254203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F7A37"/>
                </a:solidFill>
              </a:rPr>
              <a:t>GK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9189720" y="21031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19456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F7A37"/>
                </a:solidFill>
              </a:rPr>
              <a:t>D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918972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85292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F7A37"/>
                </a:solidFill>
              </a:rPr>
              <a:t>D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9921240" y="21488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224028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F7A37"/>
                </a:solidFill>
              </a:rPr>
              <a:t>M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9921240" y="26974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78892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F7A37"/>
                </a:solidFill>
              </a:rPr>
              <a:t>M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10469880" y="2450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69880" y="254203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F7A37"/>
                </a:solidFill>
              </a:rPr>
              <a:t>F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8485632" y="37947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Школьный футбол становится измеримым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62636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Башкирская гимназия села Малояз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РЕГЛАМЕНТ ЮТИ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Соответствие положению конкурса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1790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A37"/>
                </a:solidFill>
              </a:rPr>
              <a:t>Вывод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1938528"/>
            <a:ext cx="311810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FootAssist соответствует положению при подаче в номинацию 5 «ИТ-решения в образовании и не только». Проект является ИТ-разработкой для школьной жизни, сетевым инструментом для взаимодействия игроков, тренера и организатора, а также интерактивным общественно полезным проектом для своего края.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89120" y="1335024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4996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184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65776" y="151790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Участники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938528"/>
            <a:ext cx="28895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Положение допускает обучающихся 7-18 лет и индивидуальные/командные проекты. FootAssist создан школьником и может быть заявлен индивидуально или командой до 2 человек.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973568" y="1335024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4996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6184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50224" y="151790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Номинация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4736" y="1938528"/>
            <a:ext cx="28895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Номинация 5 прямо включает приложения для школьной жизни, сетевые решения для совместной работы и интерактивные предложения для общественно значимых проектов края.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389120" y="356616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37307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8496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65776" y="374904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Формат работы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0288" y="4169664"/>
            <a:ext cx="28895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Работа имеет мультимедийную презентацию, веб-прототип, Android APK, QR-демо, описание проекта и техническую структуру.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973568" y="356616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7307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38496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50224" y="374904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Критерии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74736" y="4169664"/>
            <a:ext cx="28895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Проект закрывает актуальность, новизну, цель и задачи, экспериментальную часть, практическую значимость, техническую документацию и экономику.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Важно: специальный кейс РЖД не выбран. FootAssist подается не в железнодорожный кейс, а в основную номинацию ИТ-решений.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ПОСТАНОВКА ЗАДАЧИ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 и актуальность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303520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08760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7111F"/>
                </a:solidFill>
              </a:rPr>
              <a:t>Проблема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4901184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В школьном футболе статистика часто ведется вручную или не ведется вообще. Игроков оценивают «на глаз», прогресс теряется, тренеру сложно учитывать травмы и форму, а турнирные результаты неудобно показывать зрителям.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6208" y="1325880"/>
            <a:ext cx="1508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490472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91%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82512" y="189280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хотят статистику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82512" y="2075688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пример опроса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7909560" y="1325880"/>
            <a:ext cx="1508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55864" y="1490472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88%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55864" y="189280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за паспорт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55864" y="2075688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пример опроса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9582912" y="1325880"/>
            <a:ext cx="1508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9216" y="1490472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78%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29216" y="189280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за QR-турнир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729216" y="2075688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пример опроса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236208" y="2633472"/>
            <a:ext cx="4855464" cy="306324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BBF7D0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2816352"/>
            <a:ext cx="4453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A37"/>
                </a:solidFill>
              </a:rPr>
              <a:t>Почему это важно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37376" y="3236976"/>
            <a:ext cx="4453128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75569"/>
                </a:solidFill>
              </a:rPr>
              <a:t>Школьный спорт — часть образовательной среды. Если игрок видит личный прогресс, понятные рекомендации и честный рейтинг, он получает больше мотивации тренироваться, развиваться и участвовать в команде.</a:t>
            </a:r>
            <a:endParaRPr lang="en-US" sz="14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 ПРОЕКТА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Цель, задачи и ожидаемый результат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10927080" cy="1097280"/>
          </a:xfrm>
          <a:prstGeom prst="roundRect">
            <a:avLst>
              <a:gd name="adj" fmla="val 6667"/>
            </a:avLst>
          </a:prstGeom>
          <a:solidFill>
            <a:srgbClr val="07111F"/>
          </a:solidFill>
          <a:ln w="12700">
            <a:solidFill>
              <a:srgbClr val="07111F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08760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6EFAC"/>
                </a:solidFill>
              </a:rPr>
              <a:t>Цель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10524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FFFFFF"/>
                </a:solidFill>
              </a:rPr>
              <a:t>Создать цифровую платформу для школьного футбола, которая помогает игрокам видеть прогресс, тренерам принимать решения по данным, а организаторам проводить турниры прозрачнее.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9992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1181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71016" y="30175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Цифровой паспорт игрока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343814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личный прогресс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297680" y="2834640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29992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31181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74336" y="30175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Расчет рейтинга и рекомендации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98848" y="343814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понятные данные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001000" y="2834640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65592" y="29992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31181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77656" y="30175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Учет травм и автосостав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02168" y="343814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безопасная нагрузка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4251960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44165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45354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71016" y="44348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Турнирная таблица и QR-доступ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5528" y="48554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зрительский доступ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297680" y="4251960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62272" y="44165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45354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74336" y="44348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Чат и организационная связь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498848" y="48554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командная связь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8001000" y="4251960"/>
            <a:ext cx="340156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65592" y="44165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65592" y="45354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77656" y="44348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Проверка полезности через опрос и пилот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02168" y="48554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измеримый эффект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ОПИСАНИЕ ПРОДУКТА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Решение: FootAssist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FootAssist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F7D0"/>
                </a:solidFill>
              </a:rPr>
              <a:t>Цифровой футбольный кабинет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92608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Паспорт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3346704"/>
            <a:ext cx="64922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240280" y="274320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292608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Рейтинг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41448" y="3346704"/>
            <a:ext cx="64922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84048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Турнир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15568" y="4261104"/>
            <a:ext cx="64922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240280" y="365760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384048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QR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41448" y="4261104"/>
            <a:ext cx="64922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09160" y="1508760"/>
            <a:ext cx="63550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475569"/>
                </a:solidFill>
              </a:rPr>
              <a:t>Работает как веб-приложение и может открываться по QR-коду.</a:t>
            </a:r>
            <a:endParaRPr lang="en-US" sz="1400" dirty="0"/>
          </a:p>
          <a:p>
            <a:r>
              <a:rPr lang="en-US" sz="1400" dirty="0">
                <a:solidFill>
                  <a:srgbClr val="475569"/>
                </a:solidFill>
              </a:rPr>
              <a:t>Имеет Android-версию через Capacitor.</a:t>
            </a:r>
            <a:endParaRPr lang="en-US" sz="1400" dirty="0"/>
          </a:p>
          <a:p>
            <a:r>
              <a:rPr lang="en-US" sz="1400" dirty="0">
                <a:solidFill>
                  <a:srgbClr val="475569"/>
                </a:solidFill>
              </a:rPr>
              <a:t>Использует разные роли доступа: игрок, тренер, организатор, зритель.</a:t>
            </a:r>
            <a:endParaRPr lang="en-US" sz="1400" dirty="0"/>
          </a:p>
          <a:p>
            <a:r>
              <a:rPr lang="en-US" sz="1400" dirty="0">
                <a:solidFill>
                  <a:srgbClr val="475569"/>
                </a:solidFill>
              </a:rPr>
              <a:t>Сохраняет демо-данные в браузере, чтобы прототип вел себя как живой продукт.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5029200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BBF7D0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5212080"/>
            <a:ext cx="5952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A37"/>
                </a:solidFill>
              </a:rPr>
              <a:t>Главная идея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0328" y="5632704"/>
            <a:ext cx="5952744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Каждый матч виден. Каждый игрок растет.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Целевая аудитория и роли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371600"/>
            <a:ext cx="2423160" cy="2880360"/>
          </a:xfrm>
          <a:prstGeom prst="roundRect">
            <a:avLst>
              <a:gd name="adj" fmla="val 3019"/>
            </a:avLst>
          </a:prstGeom>
          <a:solidFill>
            <a:srgbClr val="ECFDF5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5361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550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89888" y="155448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Игрок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975104"/>
            <a:ext cx="202082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видит паспорт, статистику, рекомендации, расписание, историю и чат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02152" y="1371600"/>
            <a:ext cx="2423160" cy="28803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15361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16550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78808" y="155448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Тренер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1975104"/>
            <a:ext cx="202082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ведет команду, принимает заявки, редактирует статистику и состав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1371600"/>
            <a:ext cx="2423160" cy="28803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15361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16550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67728" y="155448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Организатор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1975104"/>
            <a:ext cx="202082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управляет турниром, подтверждает данные и показывает AI-демо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79992" y="1371600"/>
            <a:ext cx="2423160" cy="28803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4584" y="15361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4584" y="16550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756648" y="155448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Зритель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81160" y="1975104"/>
            <a:ext cx="202082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смотрит турнир, матчи, MVP и рейтинг по QR-коду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97280" y="4892040"/>
            <a:ext cx="9875520" cy="0"/>
          </a:xfrm>
          <a:prstGeom prst="line">
            <a:avLst/>
          </a:prstGeom>
          <a:noFill/>
          <a:ln w="25400">
            <a:solidFill>
              <a:srgbClr val="D7E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230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Разделение ролей помогает выполнить требование к практической значимости: каждый участник школьной футбольной среды получает свой полезный сценарий.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ФУНКЦИОНАЛЬНОСТЬ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Ключевые функции прототипа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21792" y="1325880"/>
            <a:ext cx="336499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904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093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98448" y="15087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Цифровой паспорт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929384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карточка игрока, фото, позиция, статус, метрики и общий уровень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325112" y="1325880"/>
            <a:ext cx="336499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9704" y="14904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6093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01768" y="15087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Рейтинг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1929384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формула: голы, передачи, отборы, точные пасы, ошибки, сейвы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028432" y="1325880"/>
            <a:ext cx="336499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14904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16093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705088" y="15087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Развитие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0" y="1929384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рекомендации, диаграмма навыков, история матчей и прогресса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21792" y="3383280"/>
            <a:ext cx="336499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3547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36667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98448" y="35661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Матч-день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3986784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автоподбор стартового состава с учетом позиции и травм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325112" y="3383280"/>
            <a:ext cx="336499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9704" y="3547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9704" y="36667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01768" y="35661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Турнир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26280" y="3986784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таблица, матчи, очки, MVP и экспорт результатов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028432" y="3383280"/>
            <a:ext cx="336499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93024" y="3547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36667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705088" y="35661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Коммуникация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0" y="3986784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чат тренера и игрока, заявки игроков и команд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ДОВЕРИЕ К СИСТЕМЕ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Честность данных и безопасность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2240280" cy="91440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93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Матч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11880" y="1691640"/>
            <a:ext cx="2240280" cy="91440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993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Ввод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240280" cy="91440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993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Проверка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89720" y="1691640"/>
            <a:ext cx="2240280" cy="914400"/>
          </a:xfrm>
          <a:prstGeom prst="chevron">
            <a:avLst/>
          </a:prstGeom>
          <a:solidFill>
            <a:srgbClr val="0F7A37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1993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Рейтинг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104241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50" dirty="0">
                <a:solidFill>
                  <a:srgbClr val="475569"/>
                </a:solidFill>
              </a:rPr>
              <a:t>Игрок не может самостоятельно накрутить официальную статистику.</a:t>
            </a:r>
            <a:endParaRPr lang="en-US" sz="1450" dirty="0"/>
          </a:p>
          <a:p>
            <a:r>
              <a:rPr lang="en-US" sz="1450" dirty="0">
                <a:solidFill>
                  <a:srgbClr val="475569"/>
                </a:solidFill>
              </a:rPr>
              <a:t>Тренер или организатор подтверждает показатели после матча.</a:t>
            </a:r>
            <a:endParaRPr lang="en-US" sz="1450" dirty="0"/>
          </a:p>
          <a:p>
            <a:r>
              <a:rPr lang="en-US" sz="1450" dirty="0">
                <a:solidFill>
                  <a:srgbClr val="475569"/>
                </a:solidFill>
              </a:rPr>
              <a:t>AI Video Analysis честно обозначен как перспектива, не как готовое распознавание.</a:t>
            </a:r>
            <a:endParaRPr lang="en-US" sz="1450" dirty="0"/>
          </a:p>
          <a:p>
            <a:r>
              <a:rPr lang="en-US" sz="1450" dirty="0">
                <a:solidFill>
                  <a:srgbClr val="475569"/>
                </a:solidFill>
              </a:rPr>
              <a:t>В демо не используются реальные персональные данные, точный адрес не обязателен.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ИДЕИ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Исследовательская и экспериментальная часть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08760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План пилотного теста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4946904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75569"/>
                </a:solidFill>
              </a:rPr>
              <a:t>1. Показать прототип 15-30 ученикам, 2-3 тренерам и нескольким родителям.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75569"/>
                </a:solidFill>
              </a:rPr>
              <a:t>2. Проверить понятность рейтинга, QR-доступа и цифрового паспорта.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75569"/>
                </a:solidFill>
              </a:rPr>
              <a:t>3. Собрать проценты, отзывы и замечания.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75569"/>
                </a:solidFill>
              </a:rPr>
              <a:t>4. Повторно улучшить интерфейс по обратной связи.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58191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24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47104" y="198424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ответа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47104" y="2167128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цель пилота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8191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5 мин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38744" y="198424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демо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38744" y="2167128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на человека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9784080" y="1417320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30384" y="158191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30384" y="198424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роли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930384" y="2167128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проверить отдельно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400800" y="283464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ECFDF5"/>
          </a:solidFill>
          <a:ln w="12700">
            <a:solidFill>
              <a:srgbClr val="BBF7D0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3017520"/>
            <a:ext cx="439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A37"/>
                </a:solidFill>
              </a:rPr>
              <a:t>Что будет доказательством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01968" y="3438144"/>
            <a:ext cx="439826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Результаты опроса, скриншоты демонстрации, 3-5 отзывов пользователей и вывод о самой полезной функции. Эти данные напрямую закрывают критерий исследовательской и экспериментальной части.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ТЕХНИЧЕСКАЯ ДОКУМЕНТАЦИЯ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Техническая реализация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0876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A37"/>
                </a:solidFill>
              </a:rPr>
              <a:t>Стек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298094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React 19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Vite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Capacitor Android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QRCode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LocalStorage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HTML/CSS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50876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Архитектура прототипа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98848" y="1929384"/>
            <a:ext cx="298094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Компонент App хранит состояние демо, роли, игроков, заявки, турнир и чат. Сборка публикуется в папку docs для GitHub Pages. Android получает те же web assets через Capacitor sync.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3258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BBF7D0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50876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A37"/>
                </a:solidFill>
              </a:rPr>
              <a:t>Проверка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02168" y="1929384"/>
            <a:ext cx="298094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npm run lint — проходит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npm run build — проходит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cap sync android — выполнен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assembleDebug — APK собран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ЭКОНОМИЧЕСКИЕ РАСЧЕТЫ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Экономика внедрения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21488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53619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0 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3544" y="193852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школьный доступ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23544" y="2121408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базовое веб-демо и пилот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21488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53619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49 ₽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12464" y="193852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расширенный отчет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12464" y="2121408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возможная платная функция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6355080" y="1371600"/>
            <a:ext cx="21488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153619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99 ₽/мес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01384" y="193852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команда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01384" y="2121408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перспективная версия для класса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9144000" y="1371600"/>
            <a:ext cx="21488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0304" y="1536192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7A37"/>
                </a:solidFill>
              </a:rPr>
              <a:t>299 ₽/мес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90304" y="193852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секция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290304" y="2121408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4748B"/>
                </a:solidFill>
              </a:rPr>
              <a:t>версия для нескольких команд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777240" y="301752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20040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Минимальные расходы пилота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" y="3621024"/>
            <a:ext cx="467258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75569"/>
                </a:solidFill>
              </a:rPr>
              <a:t>Пилот можно провести почти без бюджета: телефон или компьютер, QR-код, школьный матч, опрос и демонстрация прототипа.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6263640" y="301752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320040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Масштабирование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64808" y="3621024"/>
            <a:ext cx="467258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475569"/>
                </a:solidFill>
              </a:rPr>
              <a:t>При развитии нужны база данных, авторизация, сервер, дизайн-иконки, поддержка турниров и возможные партнерства с местным бизнесом.</a:t>
            </a:r>
            <a:endParaRPr lang="en-US" sz="13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НОВИЗНА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Новизна и потенциал развития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08760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11F"/>
                </a:solidFill>
              </a:rPr>
              <a:t>Что нового в проекте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29384"/>
            <a:ext cx="485546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457200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40" dirty="0">
                <a:solidFill>
                  <a:srgbClr val="475569"/>
                </a:solidFill>
              </a:rPr>
              <a:t>Цифровой паспорт школьного футболиста</a:t>
            </a:r>
            <a:endParaRPr lang="en-US" sz="1340" dirty="0"/>
          </a:p>
          <a:p>
            <a:r>
              <a:rPr lang="en-US" sz="1340" dirty="0">
                <a:solidFill>
                  <a:srgbClr val="475569"/>
                </a:solidFill>
              </a:rPr>
              <a:t>Связка рейтинга, травм и автосостава</a:t>
            </a:r>
            <a:endParaRPr lang="en-US" sz="1340" dirty="0"/>
          </a:p>
          <a:p>
            <a:r>
              <a:rPr lang="en-US" sz="1340" dirty="0">
                <a:solidFill>
                  <a:srgbClr val="475569"/>
                </a:solidFill>
              </a:rPr>
              <a:t>QR-доступ к турниру для зрителей</a:t>
            </a:r>
            <a:endParaRPr lang="en-US" sz="1340" dirty="0"/>
          </a:p>
          <a:p>
            <a:r>
              <a:rPr lang="en-US" sz="1340" dirty="0">
                <a:solidFill>
                  <a:srgbClr val="475569"/>
                </a:solidFill>
              </a:rPr>
              <a:t>Режим жюри для быстрой демонстрации</a:t>
            </a:r>
            <a:endParaRPr lang="en-US" sz="1340" dirty="0"/>
          </a:p>
          <a:p>
            <a:r>
              <a:rPr lang="en-US" sz="1340" dirty="0">
                <a:solidFill>
                  <a:srgbClr val="475569"/>
                </a:solidFill>
              </a:rPr>
              <a:t>Премиальный HTML-отчет игрока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ECFDF5"/>
          </a:solidFill>
          <a:ln w="12700">
            <a:solidFill>
              <a:srgbClr val="BBF7D0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508760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A37"/>
                </a:solidFill>
              </a:rPr>
              <a:t>Куда развивать дальше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37376" y="1929384"/>
            <a:ext cx="485546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556248" y="1920240"/>
            <a:ext cx="457200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40" dirty="0">
                <a:solidFill>
                  <a:srgbClr val="475569"/>
                </a:solidFill>
              </a:rPr>
              <a:t>Реальные аккаунты и база данных</a:t>
            </a:r>
            <a:endParaRPr lang="en-US" sz="1340" dirty="0"/>
          </a:p>
          <a:p>
            <a:r>
              <a:rPr lang="en-US" sz="1340" dirty="0">
                <a:solidFill>
                  <a:srgbClr val="475569"/>
                </a:solidFill>
              </a:rPr>
              <a:t>PDF-отчеты по игрокам и командам</a:t>
            </a:r>
            <a:endParaRPr lang="en-US" sz="1340" dirty="0"/>
          </a:p>
          <a:p>
            <a:r>
              <a:rPr lang="en-US" sz="1340" dirty="0">
                <a:solidFill>
                  <a:srgbClr val="475569"/>
                </a:solidFill>
              </a:rPr>
              <a:t>История сезонов и графики развития</a:t>
            </a:r>
            <a:endParaRPr lang="en-US" sz="1340" dirty="0"/>
          </a:p>
          <a:p>
            <a:r>
              <a:rPr lang="en-US" sz="1340" dirty="0">
                <a:solidFill>
                  <a:srgbClr val="475569"/>
                </a:solidFill>
              </a:rPr>
              <a:t>Настоящий видеоанализ на компьютерном зрении</a:t>
            </a:r>
            <a:endParaRPr lang="en-US" sz="1340" dirty="0"/>
          </a:p>
          <a:p>
            <a:r>
              <a:rPr lang="en-US" sz="1340" dirty="0">
                <a:solidFill>
                  <a:srgbClr val="475569"/>
                </a:solidFill>
              </a:rPr>
              <a:t>Возможная регистрация как ПО или база данных</a:t>
            </a:r>
            <a:endParaRPr lang="en-US" sz="13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ОЧНАЯ ЗАЩИТА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Маршрут демонстрации за 5 минут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673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922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08176" y="169164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11F"/>
                </a:solidFill>
              </a:rPr>
              <a:t>Режим жюри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2688" y="2112264"/>
            <a:ext cx="147218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сразу показать проблему, пользу и соответствие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2971800" y="1508760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673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7922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48456" y="169164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11F"/>
                </a:solidFill>
              </a:rPr>
              <a:t>Паспорт игрока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72968" y="2112264"/>
            <a:ext cx="147218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цифровая карточка, рейтинг и рекомендации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212080" y="1508760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76672" y="1673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17922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88736" y="169164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11F"/>
                </a:solidFill>
              </a:rPr>
              <a:t>Матч-день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13248" y="2112264"/>
            <a:ext cx="147218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состав строится с учетом травм и формы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7452360" y="1508760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16952" y="1673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17922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29016" y="169164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11F"/>
                </a:solidFill>
              </a:rPr>
              <a:t>Турнир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653528" y="2112264"/>
            <a:ext cx="147218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таблица, матчи, MVP и QR для зрителей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9692640" y="1508760"/>
            <a:ext cx="1874520" cy="3291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DC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57232" y="1673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57232" y="179222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369296" y="169164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11F"/>
                </a:solidFill>
              </a:rPr>
              <a:t>Тестирование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893808" y="2112264"/>
            <a:ext cx="147218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план опроса, метрики и выводы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1051560" y="53492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7"/>
                </a:solidFill>
              </a:rPr>
              <a:t>Важно уложиться в регламент: выступление строго до 5 минут.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ПРАКТИЧЕСКАЯ ЗНАЧИМОСТЬ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26880" y="6473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FootAssist · ЮТИ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11F"/>
                </a:solidFill>
              </a:rPr>
              <a:t>FootAssist соответствует регламенту ЮТИ как ИТ-решение для школьной жизни и образовательной среды.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66294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20" dirty="0">
                <a:solidFill>
                  <a:srgbClr val="475569"/>
                </a:solidFill>
              </a:rPr>
              <a:t>Проект имеет рабочий прототип, а не только идею.</a:t>
            </a:r>
            <a:endParaRPr lang="en-US" sz="1420" dirty="0"/>
          </a:p>
          <a:p>
            <a:r>
              <a:rPr lang="en-US" sz="1420" dirty="0">
                <a:solidFill>
                  <a:srgbClr val="475569"/>
                </a:solidFill>
              </a:rPr>
              <a:t>Закрывает критерии актуальности, новизны, практической значимости и технической реализации.</a:t>
            </a:r>
            <a:endParaRPr lang="en-US" sz="1420" dirty="0"/>
          </a:p>
          <a:p>
            <a:r>
              <a:rPr lang="en-US" sz="1420" dirty="0">
                <a:solidFill>
                  <a:srgbClr val="475569"/>
                </a:solidFill>
              </a:rPr>
              <a:t>Имеет понятный план тестирования и дальнейшего развития.</a:t>
            </a:r>
            <a:endParaRPr lang="en-US" sz="1420" dirty="0"/>
          </a:p>
          <a:p>
            <a:r>
              <a:rPr lang="en-US" sz="1420" dirty="0">
                <a:solidFill>
                  <a:srgbClr val="475569"/>
                </a:solidFill>
              </a:rPr>
              <a:t>Может быть внедрен в школе или секции как пилот с минимальными затратами.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8229600" y="1353312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3DC"/>
            </a:solidFill>
            <a:prstDash val="solid"/>
          </a:ln>
        </p:spPr>
      </p:sp>
      <p:pic>
        <p:nvPicPr>
          <p:cNvPr id="9" name="Image 0" descr="C:\Users\TamikFutboler\Desktop\FootAssist\competition\footassist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1517904"/>
            <a:ext cx="2286000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35240" y="4160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A37"/>
                </a:solidFill>
              </a:rPr>
              <a:t>https://taaaaaaaaaaaaaaaamik.github.io/FootAssist/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09560" y="4709160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0F7A37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4901184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Каждый матч виден. Каждый игрок растет.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Башкирская гимназия села Малояз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FootAssist — цифровая платформа для школьного футбола</dc:title>
  <dc:subject>ЮТИ 2026</dc:subject>
  <dc:creator>FootAssist</dc:creator>
  <cp:lastModifiedBy>FootAssist</cp:lastModifiedBy>
  <cp:revision>1</cp:revision>
  <dcterms:created xsi:type="dcterms:W3CDTF">2026-05-19T16:46:03Z</dcterms:created>
  <dcterms:modified xsi:type="dcterms:W3CDTF">2026-05-19T16:46:03Z</dcterms:modified>
</cp:coreProperties>
</file>