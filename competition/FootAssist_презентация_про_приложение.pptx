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bg>
      <ns0:bgPr>
        <ns1:solidFill>
          <ns1:srgbClr val="07111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7111F"/>
          </ns1:solidFill>
          <ns1:ln w="12700">
            <ns1:solidFill>
              <ns1:srgbClr val="07111F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685800" y="658368"/>
            <ns1:ext cx="329184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86EFAC"/>
                </ns1:solidFill>
              </ns1:rPr>
              <ns1:t>FOOTASSIST</ns1:t>
            </ns1:r>
            <ns1:endParaRPr lang="en-US" sz="10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85800" y="1234440"/>
            <ns1:ext cx="6400800" cy="10789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4200" b="1" dirty="0" noProof="1">
                <ns1:solidFill>
                  <ns1:srgbClr val="FFFFF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Цифровая платформа для школьного футбола</ns1:t>
            </ns1:r>
            <ns1:endParaRPr lang="en-US" sz="42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713232" y="2606040"/>
            <ns1:ext cx="621792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600" dirty="0" noProof="1">
                <ns1:solidFill>
                  <ns1:srgbClr val="E2E8F0"/>
                </ns1:solidFill>
              </ns1:rPr>
              <ns1:t>Приложение объединяет паспорт игрока, рейтинг, прогресс, состав, травмы, турнир, чат, QR-доступ и сценарий будущего AI-видеоанализа.</ns1:t>
            </ns1:r>
            <ns1:endParaRPr lang="en-US" sz="16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713232" y="3703320"/>
            <ns1:ext cx="1207008" cy="347472"/>
          </ns1:xfrm>
          <ns1:prstGeom prst="roundRect">
            <ns1:avLst>
              <ns1:gd name="adj" fmla="val 15789"/>
            </ns1:avLst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713232" y="3813048"/>
            <ns1:ext cx="1207008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React + Vite</ns1:t>
            </ns1:r>
            <ns1:endParaRPr lang="en-US" sz="85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2057400" y="3703320"/>
            <ns1:ext cx="1207008" cy="347472"/>
          </ns1:xfrm>
          <ns1:prstGeom prst="roundRect">
            <ns1:avLst>
              <ns1:gd name="adj" fmla="val 15789"/>
            </ns1:avLst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9" name="Text 7"/>
          <ns0:cNvSpPr/>
          <ns0:nvPr/>
        </ns0:nvSpPr>
        <ns0:spPr>
          <ns1:xfrm>
            <ns1:off x="2057400" y="3813048"/>
            <ns1:ext cx="1207008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Android APK</ns1:t>
            </ns1:r>
            <ns1:endParaRPr lang="en-US" sz="85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3401568" y="3703320"/>
            <ns1:ext cx="1005840" cy="347472"/>
          </ns1:xfrm>
          <ns1:prstGeom prst="roundRect">
            <ns1:avLst>
              <ns1:gd name="adj" fmla="val 15789"/>
            </ns1:avLst>
          </ns1:prstGeom>
          <ns1:solidFill>
            <ns1:srgbClr val="B8872F"/>
          </ns1:solidFill>
          <ns1:ln w="12700">
            <ns1:solidFill>
              <ns1:srgbClr val="B8872F"/>
            </ns1:solidFill>
            <ns1:prstDash val="solid"/>
          </ns1:ln>
        </ns0:spPr>
      </ns0:sp>
      <ns0:sp>
        <ns0:nvSpPr>
          <ns0:cNvPr id="11" name="Text 9"/>
          <ns0:cNvSpPr/>
          <ns0:nvPr/>
        </ns0:nvSpPr>
        <ns0:spPr>
          <ns1:xfrm>
            <ns1:off x="3401568" y="3813048"/>
            <ns1:ext cx="1005840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QR demo</ns1:t>
            </ns1:r>
            <ns1:endParaRPr lang="en-US" sz="85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4553712" y="3703320"/>
            <ns1:ext cx="822960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4553712" y="3813048"/>
            <ns1:ext cx="822960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4 роли</ns1:t>
            </ns1:r>
            <ns1:endParaRPr lang="en-US" sz="850" dirty="0"/>
          </ns1:p>
        </ns0:txBody>
      </ns0:sp>
      <ns0:sp>
        <ns0:nvSpPr>
          <ns0:cNvPr id="14" name="Shape 12"/>
          <ns0:cNvSpPr/>
          <ns0:nvPr/>
        </ns0:nvSpPr>
        <ns0:spPr>
          <ns1:xfrm>
            <ns1:off x="7909560" y="868680"/>
            <ns1:ext cx="2971800" cy="5074920"/>
          </ns1:xfrm>
          <ns1:prstGeom prst="roundRect">
            <ns1:avLst>
              <ns1:gd name="adj" fmla="val 5538"/>
            </ns1:avLst>
          </ns1:prstGeom>
          <ns1:solidFill>
            <ns1:srgbClr val="07111F"/>
          </ns1:solidFill>
          <ns1:ln w="12700">
            <ns1:solidFill>
              <ns1:srgbClr val="111827"/>
            </ns1:solidFill>
            <ns1:prstDash val="solid"/>
          </ns1:ln>
        </ns0:spPr>
      </ns0:sp>
      <ns0:sp>
        <ns0:nvSpPr>
          <ns0:cNvPr id="15" name="Shape 13"/>
          <ns0:cNvSpPr/>
          <ns0:nvPr/>
        </ns0:nvSpPr>
        <ns0:spPr>
          <ns1:xfrm>
            <ns1:off x="8074152" y="1033272"/>
            <ns1:ext cx="2642616" cy="4745736"/>
          </ns1:xfrm>
          <ns1:prstGeom prst="roundRect">
            <ns1:avLst>
              <ns1:gd name="adj" fmla="val 4498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8257032" y="1280160"/>
            <ns1:ext cx="227685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FootAssist</ns1:t>
            </ns1:r>
            <ns1:endParaRPr lang="en-US" sz="150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8257032" y="1801368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8385048" y="1911096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Цифровой паспорт</ns1:t>
            </ns1:r>
            <ns1:endParaRPr lang="en-US" sz="78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8257032" y="2276856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20" name="Text 18"/>
          <ns0:cNvSpPr/>
          <ns0:nvPr/>
        </ns0:nvSpPr>
        <ns0:spPr>
          <ns1:xfrm>
            <ns1:off x="8385048" y="2386584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Рейтинг игрока: 96</ns1:t>
            </ns1:r>
            <ns1:endParaRPr lang="en-US" sz="78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8257032" y="2752344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8385048" y="2862072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Матч-день: состав готов</ns1:t>
            </ns1:r>
            <ns1:endParaRPr lang="en-US" sz="78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8257032" y="3227832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24" name="Text 22"/>
          <ns0:cNvSpPr/>
          <ns0:nvPr/>
        </ns0:nvSpPr>
        <ns0:spPr>
          <ns1:xfrm>
            <ns1:off x="8385048" y="3337560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Турнир: 6 команд</ns1:t>
            </ns1:r>
            <ns1:endParaRPr lang="en-US" sz="78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8257032" y="3703320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8385048" y="3813048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QR для зрителей</ns1:t>
            </ns1:r>
            <ns1:endParaRPr lang="en-US" sz="78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713232" y="6236208"/>
            <ns1:ext cx="585216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CBD5E1"/>
                </ns1:solidFill>
              </ns1:rPr>
              <ns1:t>Башкирская гимназия села Малояз · проект ЮТИ-2026</ns1:t>
            </ns1:r>
            <ns1:endParaRPr lang="en-US" sz="1100" dirty="0"/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 name="Slide 2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СУТЬ ПРОЕКТА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Что такое FootAssist и какую проблему он решает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325880"/>
            <ns1:ext cx="5212080" cy="4434840"/>
          </ns1:xfrm>
          <ns1:prstGeom prst="roundRect">
            <ns1:avLst>
              <ns1:gd name="adj" fmla="val 16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795528" y="1490472"/>
            <ns1:ext cx="480974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000" b="1" dirty="0" noProof="1">
                <ns1:solidFill>
                  <ns1:srgbClr val="07111F"/>
                </ns1:solidFill>
              </ns1:rPr>
              <ns1:t>Проблема</ns1:t>
            </ns1:r>
            <ns1:endParaRPr lang="en-US" sz="20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95528" y="1929384"/>
            <ns1:ext cx="4809744" cy="3685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30" dirty="0" noProof="1">
                <ns1:solidFill>
                  <ns1:srgbClr val="475569"/>
                </ns1:solidFill>
              </ns1:rPr>
              <ns1:t>В школьном футболе статистика часто ведется вручную или не ведется вообще. Игроков оценивают «на глаз», прогресс не фиксируется, тренеру сложно учитывать форму и травмы, а зрителям неудобно смотреть результаты турнира.</ns1:t>
            </ns1:r>
            <ns1:endParaRPr lang="en-US" sz="143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6172200" y="1325880"/>
            <ns1:ext cx="5212080" cy="4434840"/>
          </ns1:xfrm>
          <ns1:prstGeom prst="roundRect">
            <ns1:avLst>
              <ns1:gd name="adj" fmla="val 1649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6373368" y="1490472"/>
            <ns1:ext cx="480974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000" b="1" dirty="0" noProof="1">
                <ns1:solidFill>
                  <ns1:srgbClr val="0F7A37"/>
                </ns1:solidFill>
              </ns1:rPr>
              <ns1:t>Решение</ns1:t>
            </ns1:r>
            <ns1:endParaRPr lang="en-US" sz="20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6373368" y="1929384"/>
            <ns1:ext cx="4809744" cy="3685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30" dirty="0" noProof="1">
                <ns1:solidFill>
                  <ns1:srgbClr val="475569"/>
                </ns1:solidFill>
              </ns1:rPr>
              <ns1:t>FootAssist делает школьный футбол измеримым: каждый игрок получает цифровой паспорт и рекомендации, тренер управляет составом и нагрузкой, организатор ведет турнир, а зрители открывают результаты по QR.</ns1:t>
            </ns1:r>
            <ns1:endParaRPr lang="en-US" sz="1430" dirty="0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 name="Slide 3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СТРУКТУРА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Карта приложения: из чего состоит проект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2801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758952" y="14264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758952" y="15361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1</ns1:t>
            </ns1:r>
            <ns1:endParaRPr lang="en-US" sz="85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435608" y="14447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Вход и роли</ns1:t>
            </ns1:r>
            <ns1:endParaRPr lang="en-US" sz="15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795528" y="18836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игрок, тренер, организатор, зритель, жюри</ns1:t>
            </ns1:r>
            <ns1:endParaRPr lang="en-US" sz="10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325112" y="12801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4489704" y="14264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4489704" y="15361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2</ns1:t>
            </ns1:r>
            <ns1:endParaRPr lang="en-US" sz="8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5166360" y="14447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Паспорт игрока</ns1:t>
            </ns1:r>
            <ns1:endParaRPr lang="en-US" sz="15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4526280" y="18836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личная карточка, рейтинг, статус, фото</ns1:t>
            </ns1:r>
            <ns1:endParaRPr lang="en-US" sz="105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8055864" y="12801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8220456" y="14264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8220456" y="15361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3</ns1:t>
            </ns1:r>
            <ns1:endParaRPr lang="en-US" sz="85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8897112" y="14447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Развитие</ns1:t>
            </ns1:r>
            <ns1:endParaRPr lang="en-US" sz="15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8257032" y="18836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рекомендации, диаграмма навыков, история</ns1:t>
            </ns1:r>
            <ns1:endParaRPr lang="en-US" sz="105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594360" y="28803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22" name="Shape 20"/>
          <ns0:cNvSpPr/>
          <ns0:nvPr/>
        </ns0:nvSpPr>
        <ns0:spPr>
          <ns1:xfrm>
            <ns1:off x="758952" y="30266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758952" y="31363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4</ns1:t>
            </ns1:r>
            <ns1:endParaRPr lang="en-US" sz="85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1435608" y="30449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Команда</ns1:t>
            </ns1:r>
            <ns1:endParaRPr lang="en-US" sz="1500" dirty="0"/>
          </ns1:p>
        </ns0:txBody>
      </ns0:sp>
      <ns0:sp>
        <ns0:nvSpPr>
          <ns0:cNvPr id="25" name="Text 23"/>
          <ns0:cNvSpPr/>
          <ns0:nvPr/>
        </ns0:nvSpPr>
        <ns0:spPr>
          <ns1:xfrm>
            <ns1:off x="795528" y="34838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заявки, игроки, фильтры, ручное добавление</ns1:t>
            </ns1:r>
            <ns1:endParaRPr lang="en-US" sz="1050" dirty="0"/>
          </ns1:p>
        </ns0:txBody>
      </ns0:sp>
      <ns0:sp>
        <ns0:nvSpPr>
          <ns0:cNvPr id="26" name="Shape 24"/>
          <ns0:cNvSpPr/>
          <ns0:nvPr/>
        </ns0:nvSpPr>
        <ns0:spPr>
          <ns1:xfrm>
            <ns1:off x="4325112" y="28803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27" name="Shape 25"/>
          <ns0:cNvSpPr/>
          <ns0:nvPr/>
        </ns0:nvSpPr>
        <ns0:spPr>
          <ns1:xfrm>
            <ns1:off x="4489704" y="30266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28" name="Text 26"/>
          <ns0:cNvSpPr/>
          <ns0:nvPr/>
        </ns0:nvSpPr>
        <ns0:spPr>
          <ns1:xfrm>
            <ns1:off x="4489704" y="31363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5</ns1:t>
            </ns1:r>
            <ns1:endParaRPr lang="en-US" sz="85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5166360" y="30449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Матч-день</ns1:t>
            </ns1:r>
            <ns1:endParaRPr lang="en-US" sz="1500" dirty="0"/>
          </ns1:p>
        </ns0:txBody>
      </ns0:sp>
      <ns0:sp>
        <ns0:nvSpPr>
          <ns0:cNvPr id="30" name="Text 28"/>
          <ns0:cNvSpPr/>
          <ns0:nvPr/>
        </ns0:nvSpPr>
        <ns0:spPr>
          <ns1:xfrm>
            <ns1:off x="4526280" y="34838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автосостав, запасные, травмы</ns1:t>
            </ns1:r>
            <ns1:endParaRPr lang="en-US" sz="1050" dirty="0"/>
          </ns1:p>
        </ns0:txBody>
      </ns0:sp>
      <ns0:sp>
        <ns0:nvSpPr>
          <ns0:cNvPr id="31" name="Shape 29"/>
          <ns0:cNvSpPr/>
          <ns0:nvPr/>
        </ns0:nvSpPr>
        <ns0:spPr>
          <ns1:xfrm>
            <ns1:off x="8055864" y="28803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32" name="Shape 30"/>
          <ns0:cNvSpPr/>
          <ns0:nvPr/>
        </ns0:nvSpPr>
        <ns0:spPr>
          <ns1:xfrm>
            <ns1:off x="8220456" y="30266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33" name="Text 31"/>
          <ns0:cNvSpPr/>
          <ns0:nvPr/>
        </ns0:nvSpPr>
        <ns0:spPr>
          <ns1:xfrm>
            <ns1:off x="8220456" y="31363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6</ns1:t>
            </ns1:r>
            <ns1:endParaRPr lang="en-US" sz="850" dirty="0"/>
          </ns1:p>
        </ns0:txBody>
      </ns0:sp>
      <ns0:sp>
        <ns0:nvSpPr>
          <ns0:cNvPr id="34" name="Text 32"/>
          <ns0:cNvSpPr/>
          <ns0:nvPr/>
        </ns0:nvSpPr>
        <ns0:spPr>
          <ns1:xfrm>
            <ns1:off x="8897112" y="30449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Турнир</ns1:t>
            </ns1:r>
            <ns1:endParaRPr lang="en-US" sz="1500" dirty="0"/>
          </ns1:p>
        </ns0:txBody>
      </ns0:sp>
      <ns0:sp>
        <ns0:nvSpPr>
          <ns0:cNvPr id="35" name="Text 33"/>
          <ns0:cNvSpPr/>
          <ns0:nvPr/>
        </ns0:nvSpPr>
        <ns0:spPr>
          <ns1:xfrm>
            <ns1:off x="8257032" y="34838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таблица, матчи, MVP, экспорт</ns1:t>
            </ns1:r>
            <ns1:endParaRPr lang="en-US" sz="105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594360" y="44805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37" name="Shape 35"/>
          <ns0:cNvSpPr/>
          <ns0:nvPr/>
        </ns0:nvSpPr>
        <ns0:spPr>
          <ns1:xfrm>
            <ns1:off x="758952" y="46268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38" name="Text 36"/>
          <ns0:cNvSpPr/>
          <ns0:nvPr/>
        </ns0:nvSpPr>
        <ns0:spPr>
          <ns1:xfrm>
            <ns1:off x="758952" y="47365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7</ns1:t>
            </ns1:r>
            <ns1:endParaRPr lang="en-US" sz="850" dirty="0"/>
          </ns1:p>
        </ns0:txBody>
      </ns0:sp>
      <ns0:sp>
        <ns0:nvSpPr>
          <ns0:cNvPr id="39" name="Text 37"/>
          <ns0:cNvSpPr/>
          <ns0:nvPr/>
        </ns0:nvSpPr>
        <ns0:spPr>
          <ns1:xfrm>
            <ns1:off x="1435608" y="46451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Чат</ns1:t>
            </ns1:r>
            <ns1:endParaRPr lang="en-US" sz="1500" dirty="0"/>
          </ns1:p>
        </ns0:txBody>
      </ns0:sp>
      <ns0:sp>
        <ns0:nvSpPr>
          <ns0:cNvPr id="40" name="Text 38"/>
          <ns0:cNvSpPr/>
          <ns0:nvPr/>
        </ns0:nvSpPr>
        <ns0:spPr>
          <ns1:xfrm>
            <ns1:off x="795528" y="50840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организационная связь тренера и игрока</ns1:t>
            </ns1:r>
            <ns1:endParaRPr lang="en-US" sz="1050" dirty="0"/>
          </ns1:p>
        </ns0:txBody>
      </ns0:sp>
      <ns0:sp>
        <ns0:nvSpPr>
          <ns0:cNvPr id="41" name="Shape 39"/>
          <ns0:cNvSpPr/>
          <ns0:nvPr/>
        </ns0:nvSpPr>
        <ns0:spPr>
          <ns1:xfrm>
            <ns1:off x="4325112" y="44805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42" name="Shape 40"/>
          <ns0:cNvSpPr/>
          <ns0:nvPr/>
        </ns0:nvSpPr>
        <ns0:spPr>
          <ns1:xfrm>
            <ns1:off x="4489704" y="46268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43" name="Text 41"/>
          <ns0:cNvSpPr/>
          <ns0:nvPr/>
        </ns0:nvSpPr>
        <ns0:spPr>
          <ns1:xfrm>
            <ns1:off x="4489704" y="47365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8</ns1:t>
            </ns1:r>
            <ns1:endParaRPr lang="en-US" sz="850" dirty="0"/>
          </ns1:p>
        </ns0:txBody>
      </ns0:sp>
      <ns0:sp>
        <ns0:nvSpPr>
          <ns0:cNvPr id="44" name="Text 42"/>
          <ns0:cNvSpPr/>
          <ns0:nvPr/>
        </ns0:nvSpPr>
        <ns0:spPr>
          <ns1:xfrm>
            <ns1:off x="5166360" y="46451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AI-демо</ns1:t>
            </ns1:r>
            <ns1:endParaRPr lang="en-US" sz="1500" dirty="0"/>
          </ns1:p>
        </ns0:txBody>
      </ns0:sp>
      <ns0:sp>
        <ns0:nvSpPr>
          <ns0:cNvPr id="45" name="Text 43"/>
          <ns0:cNvSpPr/>
          <ns0:nvPr/>
        </ns0:nvSpPr>
        <ns0:spPr>
          <ns1:xfrm>
            <ns1:off x="4526280" y="50840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сценарий будущего видеоанализа</ns1:t>
            </ns1:r>
            <ns1:endParaRPr lang="en-US" sz="1050" dirty="0"/>
          </ns1:p>
        </ns0:txBody>
      </ns0:sp>
      <ns0:sp>
        <ns0:nvSpPr>
          <ns0:cNvPr id="46" name="Shape 44"/>
          <ns0:cNvSpPr/>
          <ns0:nvPr/>
        </ns0:nvSpPr>
        <ns0:spPr>
          <ns1:xfrm>
            <ns1:off x="8055864" y="4480560"/>
            <ns1:ext cx="3337560" cy="1152144"/>
          </ns1:xfrm>
          <ns1:prstGeom prst="roundRect">
            <ns1:avLst>
              <ns1:gd name="adj" fmla="val 6349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47" name="Shape 45"/>
          <ns0:cNvSpPr/>
          <ns0:nvPr/>
        </ns0:nvSpPr>
        <ns0:spPr>
          <ns1:xfrm>
            <ns1:off x="8220456" y="462686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48" name="Text 46"/>
          <ns0:cNvSpPr/>
          <ns0:nvPr/>
        </ns0:nvSpPr>
        <ns0:spPr>
          <ns1:xfrm>
            <ns1:off x="8220456" y="473659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9</ns1:t>
            </ns1:r>
            <ns1:endParaRPr lang="en-US" sz="850" dirty="0"/>
          </ns1:p>
        </ns0:txBody>
      </ns0:sp>
      <ns0:sp>
        <ns0:nvSpPr>
          <ns0:cNvPr id="49" name="Text 47"/>
          <ns0:cNvSpPr/>
          <ns0:nvPr/>
        </ns0:nvSpPr>
        <ns0:spPr>
          <ns1:xfrm>
            <ns1:off x="8897112" y="4645152"/>
            <ns1:ext cx="231343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Тестирование</ns1:t>
            </ns1:r>
            <ns1:endParaRPr lang="en-US" sz="1500" dirty="0"/>
          </ns1:p>
        </ns0:txBody>
      </ns0:sp>
      <ns0:sp>
        <ns0:nvSpPr>
          <ns0:cNvPr id="50" name="Text 48"/>
          <ns0:cNvSpPr/>
          <ns0:nvPr/>
        </ns0:nvSpPr>
        <ns0:spPr>
          <ns1:xfrm>
            <ns1:off x="8257032" y="5084064"/>
            <ns1:ext cx="2935224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опрос, пилот, метрики, выводы</ns1:t>
            </ns1:r>
            <ns1:endParaRPr lang="en-US" sz="1050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4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ПЕРВЫЙ ЭКРАН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Вход, QR и режим жюри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777240" y="1243584"/>
            <ns1:ext cx="2834640" cy="4846320"/>
          </ns1:xfrm>
          <ns1:prstGeom prst="roundRect">
            <ns1:avLst>
              <ns1:gd name="adj" fmla="val 5806"/>
            </ns1:avLst>
          </ns1:prstGeom>
          <ns1:solidFill>
            <ns1:srgbClr val="07111F"/>
          </ns1:solidFill>
          <ns1:ln w="12700">
            <ns1:solidFill>
              <ns1:srgbClr val="111827"/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941832" y="1408176"/>
            <ns1:ext cx="2505456" cy="4517136"/>
          </ns1:xfrm>
          <ns1:prstGeom prst="roundRect">
            <ns1:avLst>
              <ns1:gd name="adj" fmla="val 4745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1124712" y="1655064"/>
            <ns1:ext cx="213969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Вход</ns1:t>
            </ns1:r>
            <ns1:endParaRPr lang="en-US" sz="15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1124712" y="2176272"/>
            <ns1:ext cx="213969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252728" y="2286000"/>
            <ns1:ext cx="188366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Войти как игрок</ns1:t>
            </ns1:r>
            <ns1:endParaRPr lang="en-US" sz="78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124712" y="2651760"/>
            <ns1:ext cx="213969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252728" y="2761488"/>
            <ns1:ext cx="188366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Демо тренера</ns1:t>
            </ns1:r>
            <ns1:endParaRPr lang="en-US" sz="78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1124712" y="3127248"/>
            <ns1:ext cx="213969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1252728" y="3236976"/>
            <ns1:ext cx="188366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Демо организатора</ns1:t>
            </ns1:r>
            <ns1:endParaRPr lang="en-US" sz="78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1124712" y="3602736"/>
            <ns1:ext cx="213969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1252728" y="3712464"/>
            <ns1:ext cx="188366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Режим зрителя</ns1:t>
            </ns1:r>
            <ns1:endParaRPr lang="en-US" sz="78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1124712" y="4078224"/>
            <ns1:ext cx="213969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1252728" y="4187952"/>
            <ns1:ext cx="188366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Режим жюри</ns1:t>
            </ns1:r>
            <ns1:endParaRPr lang="en-US" sz="78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4069080" y="1325880"/>
            <ns1:ext cx="3429000" cy="1828800"/>
          </ns1:xfrm>
          <ns1:prstGeom prst="roundRect">
            <ns1:avLst>
              <ns1:gd name="adj" fmla="val 4000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20" name="Text 18"/>
          <ns0:cNvSpPr/>
          <ns0:nvPr/>
        </ns0:nvSpPr>
        <ns0:spPr>
          <ns1:xfrm>
            <ns1:off x="4270248" y="1490472"/>
            <ns1:ext cx="30266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Роли с первого экрана</ns1:t>
            </ns1:r>
            <ns1:endParaRPr lang="en-US" sz="1500" dirty="0"/>
          </ns1:p>
        </ns0:txBody>
      </ns0:sp>
      <ns0:sp>
        <ns0:nvSpPr>
          <ns0:cNvPr id="21" name="Text 19"/>
          <ns0:cNvSpPr/>
          <ns0:nvPr/>
        </ns0:nvSpPr>
        <ns0:spPr>
          <ns1:xfrm>
            <ns1:off x="4270248" y="1929384"/>
            <ns1:ext cx="3026664" cy="10789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Пользователь сразу выбирает сценарий: игрок, тренер, организатор, зритель или жюри для быстрой защиты проекта.</ns1:t>
            </ns1:r>
            <ns1:endParaRPr lang="en-US" sz="124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4069080" y="3456432"/>
            <ns1:ext cx="3429000" cy="1828800"/>
          </ns1:xfrm>
          <ns1:prstGeom prst="roundRect">
            <ns1:avLst>
              <ns1:gd name="adj" fmla="val 4000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4270248" y="3621024"/>
            <ns1:ext cx="30266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QR-доступ</ns1:t>
            </ns1:r>
            <ns1:endParaRPr lang="en-US" sz="150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4270248" y="4059936"/>
            <ns1:ext cx="3026664" cy="10789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Приложение открывается по ссылке без установки. Это удобно для зрителей, жюри, родителей и школьного показа.</ns1:t>
            </ns1:r>
            <ns1:endParaRPr lang="en-US" sz="124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8458200" y="1572768"/>
            <ns1:ext cx="2331720" cy="2331720"/>
          </ns1:xfrm>
          <ns1:prstGeom prst="roundRect">
            <ns1:avLst>
              <ns1:gd name="adj" fmla="val 3137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pic>
        <ns0:nvPicPr>
          <ns0:cNvPr id="26" name="Image 0" descr="C:\Users\TamikFutboler\Desktop\FootAssist\competition\footassist_app_qr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8622792" y="1737360"/>
            <ns1:ext cx="2011680" cy="2011680"/>
          </ns1:xfrm>
          <ns1:prstGeom prst="rect">
            <ns1:avLst/>
          </ns1:prstGeom>
        </ns0:spPr>
      </ns0:pic>
      <ns0:sp>
        <ns0:nvSpPr>
          <ns0:cNvPr id="27" name="Text 24"/>
          <ns0:cNvSpPr/>
          <ns0:nvPr/>
        </ns0:nvSpPr>
        <ns0:spPr>
          <ns1:xfrm>
            <ns1:off x="8046720" y="4251960"/>
            <ns1:ext cx="315468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dirty="0" noProof="1">
                <ns1:solidFill>
                  <ns1:srgbClr val="0F7A37"/>
                </ns1:solidFill>
              </ns1:rPr>
              <ns1:t>https://taaaaaaaaaaaaaaaamik.github.io/FootAssist/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 name="Slide 5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ИГРОК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Роль игрока: цифровой паспорт и личный прогресс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713232" y="1261872"/>
            <ns1:ext cx="2971800" cy="4937760"/>
          </ns1:xfrm>
          <ns1:prstGeom prst="roundRect">
            <ns1:avLst>
              <ns1:gd name="adj" fmla="val 5538"/>
            </ns1:avLst>
          </ns1:prstGeom>
          <ns1:solidFill>
            <ns1:srgbClr val="07111F"/>
          </ns1:solidFill>
          <ns1:ln w="12700">
            <ns1:solidFill>
              <ns1:srgbClr val="111827"/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877824" y="1426464"/>
            <ns1:ext cx="2642616" cy="4608576"/>
          </ns1:xfrm>
          <ns1:prstGeom prst="roundRect">
            <ns1:avLst>
              <ns1:gd name="adj" fmla="val 4498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1060704" y="1673352"/>
            <ns1:ext cx="227685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Мой паспорт</ns1:t>
            </ns1:r>
            <ns1:endParaRPr lang="en-US" sz="15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1060704" y="2194560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188720" y="2304288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Амир Сафин</ns1:t>
            </ns1:r>
            <ns1:endParaRPr lang="en-US" sz="78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060704" y="2670048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188720" y="2779776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Позиция: нападающий</ns1:t>
            </ns1:r>
            <ns1:endParaRPr lang="en-US" sz="78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1060704" y="3145536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1188720" y="3255264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Рейтинг: 96</ns1:t>
            </ns1:r>
            <ns1:endParaRPr lang="en-US" sz="78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1060704" y="3621024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1188720" y="3730752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Голы: 4 · Передачи: 2</ns1:t>
            </ns1:r>
            <ns1:endParaRPr lang="en-US" sz="78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1060704" y="4096512"/>
            <ns1:ext cx="227685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1188720" y="4206240"/>
            <ns1:ext cx="202082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Скачать отчет</ns1:t>
            </ns1:r>
            <ns1:endParaRPr lang="en-US" sz="78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4206240" y="1508760"/>
            <ns1:ext cx="6766560" cy="3108960"/>
          </ns1:xfrm>
          <ns1:prstGeom prst="rect">
            <ns1:avLst/>
          </ns1:prstGeom>
          <ns1:noFill/>
          <ns1:ln/>
        </ns0:spPr>
        <ns0:txBody>
          <ns1:bodyPr wrap="square" lIns="635" tIns="635" rIns="635" bIns="635" rtlCol="0" anchor="t">
            <ns1:normAutofit/>
          </ns1:bodyPr>
          <ns1:lstStyle/>
          <ns1:p>
            <ns1:r>
              <ns1:rPr lang="ru-RU" sz="1400" dirty="0" noProof="1">
                <ns1:solidFill>
                  <ns1:srgbClr val="475569"/>
                </ns1:solidFill>
              </ns1:rPr>
              <ns1:t>Игрок видит только свои данные и не может редактировать официальную статистику.</ns1:t>
            </ns1:r>
            <ns1:endParaRPr lang="en-US" sz="134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Паспорт показывает команду, позицию, статус готовности, рейтинг и общий уровень.</ns1:t>
            </ns1:r>
            <ns1:endParaRPr lang="en-US" sz="134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Можно скачать красивый HTML-паспорт игрока для тренера, родителей или защиты.</ns1:t>
            </ns1:r>
            <ns1:endParaRPr lang="en-US" sz="134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История матчей помогает видеть динамику, а не только один результат.</ns1:t>
            </ns1:r>
            <ns1:endParaRPr lang="en-US" sz="134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4343400" y="4892040"/>
            <ns1:ext cx="155448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1" name="Text 19"/>
          <ns0:cNvSpPr/>
          <ns0:nvPr/>
        </ns0:nvSpPr>
        <ns0:spPr>
          <ns1:xfrm>
            <ns1:off x="4471416" y="5038344"/>
            <ns1:ext cx="129844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96</ns1:t>
            </ns1:r>
            <ns1:endParaRPr lang="en-US" sz="230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4471416" y="5440680"/>
            <ns1:ext cx="129844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рейтинг</ns1:t>
            </ns1:r>
            <ns1:endParaRPr lang="en-US" sz="95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4471416" y="5641848"/>
            <ns1:ext cx="1298448" cy="1280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пример</ns1:t>
            </ns1:r>
            <ns1:endParaRPr lang="en-US" sz="78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6126480" y="4892040"/>
            <ns1:ext cx="155448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6254496" y="5038344"/>
            <ns1:ext cx="129844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6</ns1:t>
            </ns1:r>
            <ns1:endParaRPr lang="en-US" sz="230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6254496" y="5440680"/>
            <ns1:ext cx="129844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метрик</ns1:t>
            </ns1:r>
            <ns1:endParaRPr lang="en-US" sz="95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6254496" y="5641848"/>
            <ns1:ext cx="1298448" cy="1280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игрока</ns1:t>
            </ns1:r>
            <ns1:endParaRPr lang="en-US" sz="78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7909560" y="4892040"/>
            <ns1:ext cx="155448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9" name="Text 27"/>
          <ns0:cNvSpPr/>
          <ns0:nvPr/>
        </ns0:nvSpPr>
        <ns0:spPr>
          <ns1:xfrm>
            <ns1:off x="8037576" y="5038344"/>
            <ns1:ext cx="129844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HTML</ns1:t>
            </ns1:r>
            <ns1:endParaRPr lang="en-US" sz="2300" dirty="0"/>
          </ns1:p>
        </ns0:txBody>
      </ns0:sp>
      <ns0:sp>
        <ns0:nvSpPr>
          <ns0:cNvPr id="30" name="Text 28"/>
          <ns0:cNvSpPr/>
          <ns0:nvPr/>
        </ns0:nvSpPr>
        <ns0:spPr>
          <ns1:xfrm>
            <ns1:off x="8037576" y="5440680"/>
            <ns1:ext cx="129844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отчет</ns1:t>
            </ns1:r>
            <ns1:endParaRPr lang="en-US" sz="950" dirty="0"/>
          </ns1:p>
        </ns0:txBody>
      </ns0:sp>
      <ns0:sp>
        <ns0:nvSpPr>
          <ns0:cNvPr id="31" name="Text 29"/>
          <ns0:cNvSpPr/>
          <ns0:nvPr/>
        </ns0:nvSpPr>
        <ns0:spPr>
          <ns1:xfrm>
            <ns1:off x="8037576" y="5641848"/>
            <ns1:ext cx="1298448" cy="1280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скачивание</ns1:t>
            </ns1:r>
            <ns1:endParaRPr lang="en-US" sz="780" dirty="0"/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 name="Slide 6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ЛОГИКА ДАННЫХ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Рейтинг и игровые показатели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685800" y="1298448"/>
            <ns1:ext cx="10835640" cy="960120"/>
          </ns1:xfrm>
          <ns1:prstGeom prst="roundRect">
            <ns1:avLst>
              <ns1:gd name="adj" fmla="val 7619"/>
            </ns1:avLst>
          </ns1:prstGeom>
          <ns1:solidFill>
            <ns1:srgbClr val="07111F"/>
          </ns1:solidFill>
          <ns1:ln w="12700">
            <ns1:solidFill>
              <ns1:srgbClr val="07111F">
                <ns1:alpha val="92000"/>
              </ns1:srgbClr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886968" y="1463040"/>
            <ns1:ext cx="1043330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86EFAC"/>
                </ns1:solidFill>
              </ns1:rPr>
              <ns1:t>Формула рейтинга</ns1:t>
            </ns1:r>
            <ns1:endParaRPr lang="en-US" sz="15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886968" y="1901952"/>
            <ns1:ext cx="10433304" cy="2103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FFFFFF"/>
                </ns1:solidFill>
              </ns1:rPr>
              <ns1:t>Голы × 10 + передачи × 7 + отборы × 4 + точные пасы × 2 − ошибки × 3. Для вратаря дополнительно учитываются сейвы и пропущенные мячи.</ns1:t>
            </ns1:r>
            <ns1:endParaRPr lang="en-US" sz="132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713232" y="2743200"/>
            <ns1:ext cx="141732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841248" y="2889504"/>
            <ns1:ext cx="116128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+10</ns1:t>
            </ns1:r>
            <ns1:endParaRPr lang="en-US" sz="23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841248" y="3291840"/>
            <ns1:ext cx="116128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Голы</ns1:t>
            </ns1:r>
            <ns1:endParaRPr lang="en-US" sz="95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2587752" y="2743200"/>
            <ns1:ext cx="141732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2715768" y="2889504"/>
            <ns1:ext cx="116128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+7</ns1:t>
            </ns1:r>
            <ns1:endParaRPr lang="en-US" sz="23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2715768" y="3291840"/>
            <ns1:ext cx="116128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Передачи</ns1:t>
            </ns1:r>
            <ns1:endParaRPr lang="en-US" sz="9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4462272" y="2743200"/>
            <ns1:ext cx="141732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4590288" y="2889504"/>
            <ns1:ext cx="116128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+4</ns1:t>
            </ns1:r>
            <ns1:endParaRPr lang="en-US" sz="2300" dirty="0"/>
          </ns1:p>
        </ns0:txBody>
      </ns0:sp>
      <ns0:sp>
        <ns0:nvSpPr>
          <ns0:cNvPr id="17" name="Text 15"/>
          <ns0:cNvSpPr/>
          <ns0:nvPr/>
        </ns0:nvSpPr>
        <ns0:spPr>
          <ns1:xfrm>
            <ns1:off x="4590288" y="3291840"/>
            <ns1:ext cx="116128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Отборы</ns1:t>
            </ns1:r>
            <ns1:endParaRPr lang="en-US" sz="95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6336792" y="2743200"/>
            <ns1:ext cx="141732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6464808" y="2889504"/>
            <ns1:ext cx="116128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+2</ns1:t>
            </ns1:r>
            <ns1:endParaRPr lang="en-US" sz="23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6464808" y="3291840"/>
            <ns1:ext cx="116128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Точные пасы</ns1:t>
            </ns1:r>
            <ns1:endParaRPr lang="en-US" sz="95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8211312" y="2743200"/>
            <ns1:ext cx="141732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8339328" y="2889504"/>
            <ns1:ext cx="116128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−3</ns1:t>
            </ns1:r>
            <ns1:endParaRPr lang="en-US" sz="23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8339328" y="3291840"/>
            <ns1:ext cx="116128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Ошибки</ns1:t>
            </ns1:r>
            <ns1:endParaRPr lang="en-US" sz="95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10085832" y="2743200"/>
            <ns1:ext cx="141732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10213848" y="2889504"/>
            <ns1:ext cx="116128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+3</ns1:t>
            </ns1:r>
            <ns1:endParaRPr lang="en-US" sz="230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10213848" y="3291840"/>
            <ns1:ext cx="116128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Сейвы</ns1:t>
            </ns1:r>
            <ns1:endParaRPr lang="en-US" sz="95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914400" y="4590288"/>
            <ns1:ext cx="4892040" cy="914400"/>
          </ns1:xfrm>
          <ns1:prstGeom prst="roundRect">
            <ns1:avLst>
              <ns1:gd name="adj" fmla="val 8000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28" name="Text 26"/>
          <ns0:cNvSpPr/>
          <ns0:nvPr/>
        </ns0:nvSpPr>
        <ns0:spPr>
          <ns1:xfrm>
            <ns1:off x="1115568" y="4754880"/>
            <ns1:ext cx="448970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Зачем нужен рейтинг</ns1:t>
            </ns1:r>
            <ns1:endParaRPr lang="en-US" sz="150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1115568" y="5193792"/>
            <ns1:ext cx="4489704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Он делает вклад игрока понятным и мотивирует развиваться по конкретным показателям.</ns1:t>
            </ns1:r>
            <ns1:endParaRPr lang="en-US" sz="116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6355080" y="4590288"/>
            <ns1:ext cx="4892040" cy="914400"/>
          </ns1:xfrm>
          <ns1:prstGeom prst="roundRect">
            <ns1:avLst>
              <ns1:gd name="adj" fmla="val 8000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6556248" y="4754880"/>
            <ns1:ext cx="448970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Защита от накрутки</ns1:t>
            </ns1:r>
            <ns1:endParaRPr lang="en-US" sz="1500" dirty="0"/>
          </ns1:p>
        </ns0:txBody>
      </ns0:sp>
      <ns0:sp>
        <ns0:nvSpPr>
          <ns0:cNvPr id="32" name="Text 30"/>
          <ns0:cNvSpPr/>
          <ns0:nvPr/>
        </ns0:nvSpPr>
        <ns0:spPr>
          <ns1:xfrm>
            <ns1:off x="6556248" y="5193792"/>
            <ns1:ext cx="4489704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Официальные данные подтверждает тренер или организатор, а не сам игрок.</ns1:t>
            </ns1:r>
            <ns1:endParaRPr lang="en-US" sz="1160" dirty="0"/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 name="Slide 7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РАЗВИТИЕ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Развитие игрока: рекомендации, навыки, расписание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325880"/>
            <ns1:ext cx="3429000" cy="4434840"/>
          </ns1:xfrm>
          <ns1:prstGeom prst="roundRect">
            <ns1:avLst>
              <ns1:gd name="adj" fmla="val 2133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758952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758952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1</ns1:t>
            </ns1:r>
            <ns1:endParaRPr lang="en-US" sz="85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435608" y="1490472"/>
            <ns1:ext cx="240487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Рекомендации</ns1:t>
            </ns1:r>
            <ns1:endParaRPr lang="en-US" sz="15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795528" y="1929384"/>
            <ns1:ext cx="3026664" cy="3685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Система анализирует позицию, рейтинг, ошибки, физическую готовность и игровую статистику. Игрок получает простую подсказку: что улучшить и как тренироваться.</ns1:t>
            </ns1:r>
            <ns1:endParaRPr lang="en-US" sz="124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389120" y="1325880"/>
            <ns1:ext cx="3429000" cy="4434840"/>
          </ns1:xfrm>
          <ns1:prstGeom prst="roundRect">
            <ns1:avLst>
              <ns1:gd name="adj" fmla="val 2133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4553712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4553712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2</ns1:t>
            </ns1:r>
            <ns1:endParaRPr lang="en-US" sz="8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5230368" y="1490472"/>
            <ns1:ext cx="240487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Диаграмма навыков</ns1:t>
            </ns1:r>
            <ns1:endParaRPr lang="en-US" sz="15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4590288" y="1929384"/>
            <ns1:ext cx="3026664" cy="3685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Профиль игрока строится по шести качествам: скорость, удар, пас, отбор, техника и физика. Это помогает увидеть сильные стороны и зоны роста.</ns1:t>
            </ns1:r>
            <ns1:endParaRPr lang="en-US" sz="124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8183880" y="1325880"/>
            <ns1:ext cx="3429000" cy="4434840"/>
          </ns1:xfrm>
          <ns1:prstGeom prst="roundRect">
            <ns1:avLst>
              <ns1:gd name="adj" fmla="val 2133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8348472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8348472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3</ns1:t>
            </ns1:r>
            <ns1:endParaRPr lang="en-US" sz="85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9025128" y="1490472"/>
            <ns1:ext cx="240487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Расписание и история</ns1:t>
            </ns1:r>
            <ns1:endParaRPr lang="en-US" sz="15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8385048" y="1929384"/>
            <ns1:ext cx="3026664" cy="3685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Игрок видит тренировки, ближайшие события, историю матчей и график прогресса за последние игры.</ns1:t>
            </ns1:r>
            <ns1:endParaRPr lang="en-US" sz="1240" dirty="0"/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>
  <ns0:cSld name="Slide 8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ТРЕНЕР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Роль тренера: команда, заявки и статистика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713232" y="1261872"/>
            <ns1:ext cx="2880360" cy="4892040"/>
          </ns1:xfrm>
          <ns1:prstGeom prst="roundRect">
            <ns1:avLst>
              <ns1:gd name="adj" fmla="val 5714"/>
            </ns1:avLst>
          </ns1:prstGeom>
          <ns1:solidFill>
            <ns1:srgbClr val="07111F"/>
          </ns1:solidFill>
          <ns1:ln w="12700">
            <ns1:solidFill>
              <ns1:srgbClr val="111827"/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877824" y="1426464"/>
            <ns1:ext cx="2551176" cy="4562856"/>
          </ns1:xfrm>
          <ns1:prstGeom prst="roundRect">
            <ns1:avLst>
              <ns1:gd name="adj" fmla="val 4659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1060704" y="1673352"/>
            <ns1:ext cx="218541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Тренер</ns1:t>
            </ns1:r>
            <ns1:endParaRPr lang="en-US" sz="15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1060704" y="2194560"/>
            <ns1:ext cx="218541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188720" y="2304288"/>
            <ns1:ext cx="192938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Игроки команды</ns1:t>
            </ns1:r>
            <ns1:endParaRPr lang="en-US" sz="78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060704" y="2670048"/>
            <ns1:ext cx="218541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188720" y="2779776"/>
            <ns1:ext cx="192938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+ Игрок</ns1:t>
            </ns1:r>
            <ns1:endParaRPr lang="en-US" sz="78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1060704" y="3145536"/>
            <ns1:ext cx="218541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1188720" y="3255264"/>
            <ns1:ext cx="192938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Фильтр по позиции</ns1:t>
            </ns1:r>
            <ns1:endParaRPr lang="en-US" sz="78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1060704" y="3621024"/>
            <ns1:ext cx="218541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1188720" y="3730752"/>
            <ns1:ext cx="192938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Заявки игроков</ns1:t>
            </ns1:r>
            <ns1:endParaRPr lang="en-US" sz="78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1060704" y="4096512"/>
            <ns1:ext cx="218541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1188720" y="4206240"/>
            <ns1:ext cx="192938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Редактировать статистику</ns1:t>
            </ns1:r>
            <ns1:endParaRPr lang="en-US" sz="78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4160520" y="1508760"/>
            <ns1:ext cx="6903720" cy="3566160"/>
          </ns1:xfrm>
          <ns1:prstGeom prst="rect">
            <ns1:avLst/>
          </ns1:prstGeom>
          <ns1:noFill/>
          <ns1:ln/>
        </ns0:spPr>
        <ns0:txBody>
          <ns1:bodyPr wrap="square" lIns="635" tIns="635" rIns="635" bIns="635" rtlCol="0" anchor="t">
            <ns1:normAutofit/>
          </ns1:bodyPr>
          <ns1:lstStyle/>
          <ns1:p>
            <ns1:r>
              <ns1:rPr lang="ru-RU" sz="1400" dirty="0" noProof="1">
                <ns1:solidFill>
                  <ns1:srgbClr val="475569"/>
                </ns1:solidFill>
              </ns1:rPr>
              <ns1:t>Тренер видит список игроков, статусы готовности и рейтинг.</ns1:t>
            </ns1:r>
            <ns1:endParaRPr lang="en-US" sz="135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Может принять или отклонить заявку игрока по коду команды.</ns1:t>
            </ns1:r>
            <ns1:endParaRPr lang="en-US" sz="135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Может добавить игрока вручную и загрузить фото.</ns1:t>
            </ns1:r>
            <ns1:endParaRPr lang="en-US" sz="135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После матча тренер обновляет показатели: голы, передачи, отборы, пасы, ошибки.</ns1:t>
            </ns1:r>
            <ns1:endParaRPr lang="en-US" sz="13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4315968" y="5175504"/>
            <ns1:ext cx="6400800" cy="640080"/>
          </ns1:xfrm>
          <ns1:prstGeom prst="roundRect">
            <ns1:avLst>
              <ns1:gd name="adj" fmla="val 11429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21" name="Text 19"/>
          <ns0:cNvSpPr/>
          <ns0:nvPr/>
        </ns0:nvSpPr>
        <ns0:spPr>
          <ns1:xfrm>
            <ns1:off x="4517136" y="5340096"/>
            <ns1:ext cx="59984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Главный смысл роли</ns1:t>
            </ns1:r>
            <ns1:endParaRPr lang="en-US" sz="150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4517136" y="5779008"/>
            <ns1:ext cx="5998464" cy="-1097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Тренер принимает решения по данным, а не только по впечатлению.</ns1:t>
            </ns1:r>
            <ns1:endParaRPr lang="en-US" sz="1080" dirty="0"/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 name="Slide 9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ТРЕНЕРСКИЙ СЦЕНАРИЙ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Матч-день: состав, травмы и игровая готовность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325880"/>
            <ns1:ext cx="3383280" cy="4343400"/>
          </ns1:xfrm>
          <ns1:prstGeom prst="roundRect">
            <ns1:avLst>
              <ns1:gd name="adj" fmla="val 2162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758952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758952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1</ns1:t>
            </ns1:r>
            <ns1:endParaRPr lang="en-US" sz="85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435608" y="1490472"/>
            <ns1:ext cx="235915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Автосостав</ns1:t>
            </ns1:r>
            <ns1:endParaRPr lang="en-US" sz="15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795528" y="1929384"/>
            <ns1:ext cx="298094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Приложение предлагает стартовый состав с учетом позиции, рейтинга и статуса готовности. Игрок с травмой не попадает в старт.</ns1:t>
            </ns1:r>
            <ns1:endParaRPr lang="en-US" sz="124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407408" y="1325880"/>
            <ns1:ext cx="3383280" cy="4343400"/>
          </ns1:xfrm>
          <ns1:prstGeom prst="roundRect">
            <ns1:avLst>
              <ns1:gd name="adj" fmla="val 2162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4572000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4572000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2</ns1:t>
            </ns1:r>
            <ns1:endParaRPr lang="en-US" sz="8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5248656" y="1490472"/>
            <ns1:ext cx="235915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Контроль травм</ns1:t>
            </ns1:r>
            <ns1:endParaRPr lang="en-US" sz="15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4608576" y="1929384"/>
            <ns1:ext cx="298094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У каждого игрока есть статус: готов, травма, восстановление, под вопросом. Тренер видит комментарий и срок восстановления.</ns1:t>
            </ns1:r>
            <ns1:endParaRPr lang="en-US" sz="124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8211312" y="1325880"/>
            <ns1:ext cx="3383280" cy="4343400"/>
          </ns1:xfrm>
          <ns1:prstGeom prst="roundRect">
            <ns1:avLst>
              <ns1:gd name="adj" fmla="val 2162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8375904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8375904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3</ns1:t>
            </ns1:r>
            <ns1:endParaRPr lang="en-US" sz="85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9052560" y="1490472"/>
            <ns1:ext cx="235915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Запасные</ns1:t>
            </ns1:r>
            <ns1:endParaRPr lang="en-US" sz="15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8412480" y="1929384"/>
            <ns1:ext cx="298094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Система показывает не только старт, но и запасных, чтобы тренер быстрее планировал замены и нагрузку.</ns1:t>
            </ns1:r>
            <ns1:endParaRPr lang="en-US" sz="1240" dirty="0"/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 name="Slide 10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ОРГАНИЗАТОР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Роль организатора и турнирный модуль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325880"/>
            <ns1:ext cx="5257800" cy="4389120"/>
          </ns1:xfrm>
          <ns1:prstGeom prst="roundRect">
            <ns1:avLst>
              <ns1:gd name="adj" fmla="val 1667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795528" y="1490472"/>
            <ns1:ext cx="48554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900" b="1" dirty="0" noProof="1">
                <ns1:solidFill>
                  <ns1:srgbClr val="07111F"/>
                </ns1:solidFill>
              </ns1:rPr>
              <ns1:t>Организатор</ns1:t>
            </ns1:r>
            <ns1:endParaRPr lang="en-US" sz="19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95528" y="1929384"/>
            <ns1:ext cx="4855464" cy="36393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Принимает заявки команд, видит заявки игроков, управляет таблицей турнира и демонстрирует официальный сценарий подтверждения данных.</ns1:t>
            </ns1:r>
            <ns1:endParaRPr lang="en-US" sz="14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6537960" y="1234440"/>
            <ns1:ext cx="3611880" cy="4663440"/>
          </ns1:xfrm>
          <ns1:prstGeom prst="roundRect">
            <ns1:avLst>
              <ns1:gd name="adj" fmla="val 4557"/>
            </ns1:avLst>
          </ns1:prstGeom>
          <ns1:solidFill>
            <ns1:srgbClr val="07111F"/>
          </ns1:solidFill>
          <ns1:ln w="12700">
            <ns1:solidFill>
              <ns1:srgbClr val="111827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>
            <ns1:off x="6702552" y="1399032"/>
            <ns1:ext cx="3282696" cy="4334256"/>
          </ns1:xfrm>
          <ns1:prstGeom prst="roundRect">
            <ns1:avLst>
              <ns1:gd name="adj" fmla="val 3621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1" name="Text 9"/>
          <ns0:cNvSpPr/>
          <ns0:nvPr/>
        </ns0:nvSpPr>
        <ns0:spPr>
          <ns1:xfrm>
            <ns1:off x="6885432" y="1645920"/>
            <ns1:ext cx="2916936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Турнир</ns1:t>
            </ns1:r>
            <ns1:endParaRPr lang="en-US" sz="150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6885432" y="2167128"/>
            <ns1:ext cx="291693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7013448" y="2276856"/>
            <ns1:ext cx="266090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9А Малояз — 10 очков</ns1:t>
            </ns1:r>
            <ns1:endParaRPr lang="en-US" sz="780" dirty="0"/>
          </ns1:p>
        </ns0:txBody>
      </ns0:sp>
      <ns0:sp>
        <ns0:nvSpPr>
          <ns0:cNvPr id="14" name="Shape 12"/>
          <ns0:cNvSpPr/>
          <ns0:nvPr/>
        </ns0:nvSpPr>
        <ns0:spPr>
          <ns1:xfrm>
            <ns1:off x="6885432" y="2642616"/>
            <ns1:ext cx="291693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5" name="Text 13"/>
          <ns0:cNvSpPr/>
          <ns0:nvPr/>
        </ns0:nvSpPr>
        <ns0:spPr>
          <ns1:xfrm>
            <ns1:off x="7013448" y="2752344"/>
            <ns1:ext cx="266090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9Б Малояз — 9 очков</ns1:t>
            </ns1:r>
            <ns1:endParaRPr lang="en-US" sz="78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6885432" y="3118104"/>
            <ns1:ext cx="291693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013448" y="3227832"/>
            <ns1:ext cx="266090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8А Малояз — 7 очков</ns1:t>
            </ns1:r>
            <ns1:endParaRPr lang="en-US" sz="78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6885432" y="3593592"/>
            <ns1:ext cx="2916936" cy="347472"/>
          </ns1:xfrm>
          <ns1:prstGeom prst="roundRect">
            <ns1:avLst>
              <ns1:gd name="adj" fmla="val 10526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7013448" y="3703320"/>
            <ns1:ext cx="266090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Матчи и MVP</ns1:t>
            </ns1:r>
            <ns1:endParaRPr lang="en-US" sz="78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6885432" y="4069080"/>
            <ns1:ext cx="2916936" cy="347472"/>
          </ns1:xfrm>
          <ns1:prstGeom prst="roundRect">
            <ns1:avLst>
              <ns1:gd name="adj" fmla="val 10526"/>
            </ns1:avLst>
          </ns1:prstGeom>
          <ns1:solidFill>
            <ns1:srgbClr val="ECFDF5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21" name="Text 19"/>
          <ns0:cNvSpPr/>
          <ns0:nvPr/>
        </ns0:nvSpPr>
        <ns0:spPr>
          <ns1:xfrm>
            <ns1:off x="7013448" y="4178808"/>
            <ns1:ext cx="2660904" cy="731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Скачать таблицу</ns1:t>
            </ns1:r>
            <ns1:endParaRPr lang="en-US" sz="78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10469880" y="1508760"/>
            <ns1:ext cx="114300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10597896" y="1655064"/>
            <ns1:ext cx="88696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6</ns1:t>
            </ns1:r>
            <ns1:endParaRPr lang="en-US" sz="230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10597896" y="2057400"/>
            <ns1:ext cx="88696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команд</ns1:t>
            </ns1:r>
            <ns1:endParaRPr lang="en-US" sz="95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10469880" y="2788920"/>
            <ns1:ext cx="114300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10597896" y="2935224"/>
            <ns1:ext cx="88696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5</ns1:t>
            </ns1:r>
            <ns1:endParaRPr lang="en-US" sz="230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10597896" y="3337560"/>
            <ns1:ext cx="88696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матчей</ns1:t>
            </ns1:r>
            <ns1:endParaRPr lang="en-US" sz="95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10469880" y="4069080"/>
            <ns1:ext cx="114300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9" name="Text 27"/>
          <ns0:cNvSpPr/>
          <ns0:nvPr/>
        </ns0:nvSpPr>
        <ns0:spPr>
          <ns1:xfrm>
            <ns1:off x="10597896" y="4215384"/>
            <ns1:ext cx="88696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MVP</ns1:t>
            </ns1:r>
            <ns1:endParaRPr lang="en-US" sz="2300" dirty="0"/>
          </ns1:p>
        </ns0:txBody>
      </ns0:sp>
      <ns0:sp>
        <ns0:nvSpPr>
          <ns0:cNvPr id="30" name="Text 28"/>
          <ns0:cNvSpPr/>
          <ns0:nvPr/>
        </ns0:nvSpPr>
        <ns0:spPr>
          <ns1:xfrm>
            <ns1:off x="10597896" y="4617720"/>
            <ns1:ext cx="88696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игрок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1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ЗРИТЕЛЬ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Зритель, QR и публичный показ турнира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325880"/>
            <ns1:ext cx="3886200" cy="4434840"/>
          </ns1:xfrm>
          <ns1:prstGeom prst="roundRect">
            <ns1:avLst>
              <ns1:gd name="adj" fmla="val 1882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795528" y="1490472"/>
            <ns1:ext cx="34838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Роль зрителя</ns1:t>
            </ns1:r>
            <ns1:endParaRPr lang="en-US" sz="15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95528" y="1929384"/>
            <ns1:ext cx="3483864" cy="3685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Зритель не редактирует данные. Он смотрит таблицу турнира, матчи, MVP и рейтинг игроков. Это удобно для родителей, учеников и жюри.</ns1:t>
            </ns1:r>
            <ns1:endParaRPr lang="en-US" sz="134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5074920" y="1417320"/>
            <ns1:ext cx="2331720" cy="2331720"/>
          </ns1:xfrm>
          <ns1:prstGeom prst="roundRect">
            <ns1:avLst>
              <ns1:gd name="adj" fmla="val 3137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pic>
        <ns0:nvPicPr>
          <ns0:cNvPr id="10" name="Image 0" descr="C:\Users\TamikFutboler\Desktop\FootAssist\competition\footassist_app_qr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5239512" y="1581912"/>
            <ns1:ext cx="2011680" cy="2011680"/>
          </ns1:xfrm>
          <ns1:prstGeom prst="rect">
            <ns1:avLst/>
          </ns1:prstGeom>
        </ns0:spPr>
      </ns0:pic>
      <ns0:sp>
        <ns0:nvSpPr>
          <ns0:cNvPr id="11" name="Shape 8"/>
          <ns0:cNvSpPr/>
          <ns0:nvPr/>
        </ns0:nvSpPr>
        <ns0:spPr>
          <ns1:xfrm>
            <ns1:off x="8001000" y="1325880"/>
            <ns1:ext cx="3383280" cy="4434840"/>
          </ns1:xfrm>
          <ns1:prstGeom prst="roundRect">
            <ns1:avLst>
              <ns1:gd name="adj" fmla="val 2162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12" name="Text 9"/>
          <ns0:cNvSpPr/>
          <ns0:nvPr/>
        </ns0:nvSpPr>
        <ns0:spPr>
          <ns1:xfrm>
            <ns1:off x="8202168" y="1490472"/>
            <ns1:ext cx="298094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Почему QR важен</ns1:t>
            </ns1:r>
            <ns1:endParaRPr lang="en-US" sz="1500" dirty="0"/>
          </ns1:p>
        </ns0:txBody>
      </ns0:sp>
      <ns0:sp>
        <ns0:nvSpPr>
          <ns0:cNvPr id="13" name="Text 10"/>
          <ns0:cNvSpPr/>
          <ns0:nvPr/>
        </ns0:nvSpPr>
        <ns0:spPr>
          <ns1:xfrm>
            <ns1:off x="8202168" y="1929384"/>
            <ns1:ext cx="2980944" cy="3685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Проект можно открыть на телефоне без установки. Это делает демонстрацию проще: отсканировал код — сразу увидел турнир и приложение.</ns1:t>
            </ns1:r>
            <ns1:endParaRPr lang="en-US" sz="1340" dirty="0"/>
          </ns1:p>
        </ns0:txBody>
      </ns0:sp>
      <ns0:sp>
        <ns0:nvSpPr>
          <ns0:cNvPr id="14" name="Text 11"/>
          <ns0:cNvSpPr/>
          <ns0:nvPr/>
        </ns0:nvSpPr>
        <ns0:spPr>
          <ns1:xfrm>
            <ns1:off x="4526280" y="4023360"/>
            <ns1:ext cx="342900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dirty="0" noProof="1">
                <ns1:solidFill>
                  <ns1:srgbClr val="0F7A37"/>
                </ns1:solidFill>
              </ns1:rPr>
              <ns1:t>https://taaaaaaaaaaaaaaaamik.github.io/FootAssist/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>
  <ns0:cSld name="Slide 12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AI-МОДУЛЬ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AI Video Analysis: честная перспектива, а не обещание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325880"/>
            <ns1:ext cx="3429000" cy="4343400"/>
          </ns1:xfrm>
          <ns1:prstGeom prst="roundRect">
            <ns1:avLst>
              <ns1:gd name="adj" fmla="val 2133"/>
            </ns1:avLst>
          </ns1:prstGeom>
          <ns1:solidFill>
            <ns1:srgbClr val="FEF3C7"/>
          </ns1:solidFill>
          <ns1:ln w="12700">
            <ns1:solidFill>
              <ns1:srgbClr val="FCD34D">
                <ns1:alpha val="92000"/>
              </ns1:srgbClr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758952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758952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1</ns1:t>
            </ns1:r>
            <ns1:endParaRPr lang="en-US" sz="85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435608" y="1490472"/>
            <ns1:ext cx="240487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92400E"/>
                </ns1:solidFill>
              </ns1:rPr>
              <ns1:t>Сейчас</ns1:t>
            </ns1:r>
            <ns1:endParaRPr lang="en-US" sz="15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795528" y="1929384"/>
            <ns1:ext cx="302666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78350F"/>
                </ns1:solidFill>
              </ns1:rPr>
              <ns1:t>В текущей версии это демонстрационный сценарий. Реального автоматического распознавания видео пока нет.</ns1:t>
            </ns1:r>
            <ns1:endParaRPr lang="en-US" sz="126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407408" y="1325880"/>
            <ns1:ext cx="3429000" cy="4343400"/>
          </ns1:xfrm>
          <ns1:prstGeom prst="roundRect">
            <ns1:avLst>
              <ns1:gd name="adj" fmla="val 2133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4572000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4572000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2</ns1:t>
            </ns1:r>
            <ns1:endParaRPr lang="en-US" sz="8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5248656" y="1490472"/>
            <ns1:ext cx="240487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Как задумано</ns1:t>
            </ns1:r>
            <ns1:endParaRPr lang="en-US" sz="15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4608576" y="1929384"/>
            <ns1:ext cx="302666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Организатор загружает видео матча, система формирует предварительный отчет, затем человек проверяет спорные моменты.</ns1:t>
            </ns1:r>
            <ns1:endParaRPr lang="en-US" sz="126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8211312" y="1325880"/>
            <ns1:ext cx="3429000" cy="4343400"/>
          </ns1:xfrm>
          <ns1:prstGeom prst="roundRect">
            <ns1:avLst>
              <ns1:gd name="adj" fmla="val 2133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8375904" y="1472184"/>
            <ns1:ext cx="530352" cy="347472"/>
          </ns1:xfrm>
          <ns1:prstGeom prst="roundRect">
            <ns1:avLst>
              <ns1:gd name="adj" fmla="val 15789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8375904" y="1581912"/>
            <ns1:ext cx="530352" cy="914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b="1" dirty="0" noProof="1">
                <ns1:solidFill>
                  <ns1:srgbClr val="FFFFFF"/>
                </ns1:solidFill>
              </ns1:rPr>
              <ns1:t>3</ns1:t>
            </ns1:r>
            <ns1:endParaRPr lang="en-US" sz="85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9052560" y="1490472"/>
            <ns1:ext cx="240487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Почему так правильно</ns1:t>
            </ns1:r>
            <ns1:endParaRPr lang="en-US" sz="15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8412480" y="1929384"/>
            <ns1:ext cx="302666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В рейтинг должны попадать только подтвержденные данные. Это повышает доверие к системе и не вводит жюри в заблуждение.</ns1:t>
            </ns1:r>
            <ns1:endParaRPr lang="en-US" sz="1260" dirty="0"/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>
  <ns0:cSld name="Slide 13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ПИЛОТ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Тестирование, исследование и доказательство пользы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325880"/>
            <ns1:ext cx="3657600" cy="4343400"/>
          </ns1:xfrm>
          <ns1:prstGeom prst="roundRect">
            <ns1:avLst>
              <ns1:gd name="adj" fmla="val 2000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795528" y="1490472"/>
            <ns1:ext cx="32552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План пилота</ns1:t>
            </ns1:r>
            <ns1:endParaRPr lang="en-US" sz="15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95528" y="1929384"/>
            <ns1:ext cx="325526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Показать приложение 15-30 ученикам, 2-3 тренерам и нескольким родителям. Проверить понятность рейтинга, пользу паспорта, удобство QR и доверие к статистике.</ns1:t>
            </ns1:r>
            <ns1:endParaRPr lang="en-US" sz="131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4663440" y="1463040"/>
            <ns1:ext cx="150876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4791456" y="1609344"/>
            <ns1:ext cx="125272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24</ns1:t>
            </ns1:r>
            <ns1:endParaRPr lang="en-US" sz="23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4791456" y="2011680"/>
            <ns1:ext cx="125272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ответа</ns1:t>
            </ns1:r>
            <ns1:endParaRPr lang="en-US" sz="950" dirty="0"/>
          </ns1:p>
        </ns0:txBody>
      </ns0:sp>
      <ns0:sp>
        <ns0:nvSpPr>
          <ns0:cNvPr id="12" name="Text 10"/>
          <ns0:cNvSpPr/>
          <ns0:nvPr/>
        </ns0:nvSpPr>
        <ns0:spPr>
          <ns1:xfrm>
            <ns1:off x="4791456" y="2212848"/>
            <ns1:ext cx="1252728" cy="1280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цель</ns1:t>
            </ns1:r>
            <ns1:endParaRPr lang="en-US" sz="78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400800" y="1463040"/>
            <ns1:ext cx="150876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6528816" y="1609344"/>
            <ns1:ext cx="125272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5 мин</ns1:t>
            </ns1:r>
            <ns1:endParaRPr lang="en-US" sz="23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6528816" y="2011680"/>
            <ns1:ext cx="125272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демо</ns1:t>
            </ns1:r>
            <ns1:endParaRPr lang="en-US" sz="950" dirty="0"/>
          </ns1:p>
        </ns0:txBody>
      </ns0:sp>
      <ns0:sp>
        <ns0:nvSpPr>
          <ns0:cNvPr id="16" name="Text 14"/>
          <ns0:cNvSpPr/>
          <ns0:nvPr/>
        </ns0:nvSpPr>
        <ns0:spPr>
          <ns1:xfrm>
            <ns1:off x="6528816" y="2212848"/>
            <ns1:ext cx="1252728" cy="1280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на человека</ns1:t>
            </ns1:r>
            <ns1:endParaRPr lang="en-US" sz="78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8138160" y="1463040"/>
            <ns1:ext cx="150876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18" name="Text 16"/>
          <ns0:cNvSpPr/>
          <ns0:nvPr/>
        </ns0:nvSpPr>
        <ns0:spPr>
          <ns1:xfrm>
            <ns1:off x="8266176" y="1609344"/>
            <ns1:ext cx="125272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4</ns1:t>
            </ns1:r>
            <ns1:endParaRPr lang="en-US" sz="230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8266176" y="2011680"/>
            <ns1:ext cx="125272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роли</ns1:t>
            </ns1:r>
            <ns1:endParaRPr lang="en-US" sz="95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8266176" y="2212848"/>
            <ns1:ext cx="1252728" cy="1280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проверить</ns1:t>
            </ns1:r>
            <ns1:endParaRPr lang="en-US" sz="78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9875520" y="1463040"/>
            <ns1:ext cx="1508760" cy="96012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003536" y="1609344"/>
            <ns1:ext cx="125272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300" b="1" dirty="0" noProof="1">
                <ns1:solidFill>
                  <ns1:srgbClr val="0F7A37"/>
                </ns1:solidFill>
              </ns1:rPr>
              <ns1:t>1</ns1:t>
            </ns1:r>
            <ns1:endParaRPr lang="en-US" sz="23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10003536" y="2011680"/>
            <ns1:ext cx="1252728" cy="1554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475569"/>
                </ns1:solidFill>
              </ns1:rPr>
              <ns1:t>вывод</ns1:t>
            </ns1:r>
            <ns1:endParaRPr lang="en-US" sz="95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10003536" y="2212848"/>
            <ns1:ext cx="1252728" cy="1280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главный</ns1:t>
            </ns1:r>
            <ns1:endParaRPr lang="en-US" sz="78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4663440" y="2971800"/>
            <ns1:ext cx="6720840" cy="2697480"/>
          </ns1:xfrm>
          <ns1:prstGeom prst="roundRect">
            <ns1:avLst>
              <ns1:gd name="adj" fmla="val 2712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4864608" y="3136392"/>
            <ns1:ext cx="631850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Что добавить после опроса</ns1:t>
            </ns1:r>
            <ns1:endParaRPr lang="en-US" sz="150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4864608" y="3575304"/>
            <ns1:ext cx="6318504" cy="19476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В приложение уже добавлен раздел тестирования. После реального опроса нужно заменить демо-проценты на фактические результаты, добавить 3-5 отзывов и показать, какая функция оказалась самой полезной.</ns1:t>
            </ns1:r>
            <ns1:endParaRPr lang="en-US" sz="1300" dirty="0"/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>
  <ns0:cSld name="Slide 14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ТЕХНОЛОГИИ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Техническая реализация и готовность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94360" y="1325880"/>
            <ns1:ext cx="3429000" cy="4343400"/>
          </ns1:xfrm>
          <ns1:prstGeom prst="roundRect">
            <ns1:avLst>
              <ns1:gd name="adj" fmla="val 2133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795528" y="1490472"/>
            <ns1:ext cx="30266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Стек</ns1:t>
            </ns1:r>
            <ns1:endParaRPr lang="en-US" sz="15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95528" y="1929384"/>
            <ns1:ext cx="302666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500" dirty="0" noProof="1">
                <ns1:solidFill>
                  <ns1:srgbClr val="475569"/>
                </ns1:solidFill>
              </ns1:rPr>
              <ns1:t>React 19</ns1:t>
            </ns1:r>
            <ns1:endParaRPr lang="en-US" sz="1500" dirty="0"/>
          </ns1:p>
          <ns1:p>
            <ns1:pPr indent="0" marL="0">
              <ns1:buNone/>
            </ns1:pPr>
            <ns1:r>
              <ns1:rPr lang="ru-RU" sz="1500" dirty="0" noProof="1">
                <ns1:solidFill>
                  <ns1:srgbClr val="475569"/>
                </ns1:solidFill>
              </ns1:rPr>
              <ns1:t>Vite</ns1:t>
            </ns1:r>
            <ns1:endParaRPr lang="en-US" sz="1500" dirty="0"/>
          </ns1:p>
          <ns1:p>
            <ns1:pPr indent="0" marL="0">
              <ns1:buNone/>
            </ns1:pPr>
            <ns1:r>
              <ns1:rPr lang="ru-RU" sz="1500" dirty="0" noProof="1">
                <ns1:solidFill>
                  <ns1:srgbClr val="475569"/>
                </ns1:solidFill>
              </ns1:rPr>
              <ns1:t>Capacitor Android</ns1:t>
            </ns1:r>
            <ns1:endParaRPr lang="en-US" sz="1500" dirty="0"/>
          </ns1:p>
          <ns1:p>
            <ns1:pPr indent="0" marL="0">
              <ns1:buNone/>
            </ns1:pPr>
            <ns1:r>
              <ns1:rPr lang="ru-RU" sz="1500" dirty="0" noProof="1">
                <ns1:solidFill>
                  <ns1:srgbClr val="475569"/>
                </ns1:solidFill>
              </ns1:rPr>
              <ns1:t>QRCode</ns1:t>
            </ns1:r>
            <ns1:endParaRPr lang="en-US" sz="1500" dirty="0"/>
          </ns1:p>
          <ns1:p>
            <ns1:pPr indent="0" marL="0">
              <ns1:buNone/>
            </ns1:pPr>
            <ns1:r>
              <ns1:rPr lang="ru-RU" sz="1500" dirty="0" noProof="1">
                <ns1:solidFill>
                  <ns1:srgbClr val="475569"/>
                </ns1:solidFill>
              </ns1:rPr>
              <ns1:t>LocalStorage</ns1:t>
            </ns1:r>
            <ns1:endParaRPr lang="en-US" sz="1500" dirty="0"/>
          </ns1:p>
          <ns1:p>
            <ns1:pPr indent="0" marL="0">
              <ns1:buNone/>
            </ns1:pPr>
            <ns1:r>
              <ns1:rPr lang="ru-RU" sz="1500" dirty="0" noProof="1">
                <ns1:solidFill>
                  <ns1:srgbClr val="475569"/>
                </ns1:solidFill>
              </ns1:rPr>
              <ns1:t>HTML/CSS</ns1:t>
            </ns1:r>
            <ns1:endParaRPr lang="en-US" sz="15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4407408" y="1325880"/>
            <ns1:ext cx="3429000" cy="4343400"/>
          </ns1:xfrm>
          <ns1:prstGeom prst="roundRect">
            <ns1:avLst>
              <ns1:gd name="adj" fmla="val 2133"/>
            </ns1:avLst>
          </ns1:prstGeom>
          <ns1:solidFill>
            <ns1:srgbClr val="FFFFFF"/>
          </ns1:solidFill>
          <ns1:ln w="12700">
            <ns1:solidFill>
              <ns1:srgbClr val="D7E3DC">
                <ns1:alpha val="92000"/>
              </ns1:srgbClr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4608576" y="1490472"/>
            <ns1:ext cx="30266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7111F"/>
                </ns1:solidFill>
              </ns1:rPr>
              <ns1:t>Что уже собрано</ns1:t>
            </ns1:r>
            <ns1:endParaRPr lang="en-US" sz="15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4608576" y="1929384"/>
            <ns1:ext cx="302666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Веб-приложение, production build в docs, Android debug APK, QR-код, README, режим жюри, раздел тестирования и HTML-отчет игрока.</ns1:t>
            </ns1:r>
            <ns1:endParaRPr lang="en-US" sz="127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8211312" y="1325880"/>
            <ns1:ext cx="3429000" cy="4343400"/>
          </ns1:xfrm>
          <ns1:prstGeom prst="roundRect">
            <ns1:avLst>
              <ns1:gd name="adj" fmla="val 2133"/>
            </ns1:avLst>
          </ns1:prstGeom>
          <ns1:solidFill>
            <ns1:srgbClr val="ECFDF5"/>
          </ns1:solidFill>
          <ns1:ln w="12700">
            <ns1:solidFill>
              <ns1:srgbClr val="BBF7D0">
                <ns1:alpha val="92000"/>
              </ns1:srgbClr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8412480" y="1490472"/>
            <ns1:ext cx="3026664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1500" b="1" dirty="0" noProof="1">
                <ns1:solidFill>
                  <ns1:srgbClr val="0F7A37"/>
                </ns1:solidFill>
              </ns1:rPr>
              <ns1:t>Проверка</ns1:t>
            </ns1:r>
            <ns1:endParaRPr lang="en-US" sz="15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8412480" y="1929384"/>
            <ns1:ext cx="3026664" cy="3593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npm run lint — проходит</ns1:t>
            </ns1:r>
            <ns1:endParaRPr lang="en-US" sz="1300" dirty="0"/>
          </ns1:p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npm run build — проходит</ns1:t>
            </ns1:r>
            <ns1:endParaRPr lang="en-US" sz="1300" dirty="0"/>
          </ns1:p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cap sync android — выполнен</ns1:t>
            </ns1:r>
            <ns1:endParaRPr lang="en-US" sz="1300" dirty="0"/>
          </ns1:p>
          <ns1:p>
            <ns1:pPr indent="0" marL="0">
              <ns1:buNone/>
            </ns1:pPr>
            <ns1:r>
              <ns1:rPr lang="ru-RU" sz="1400" dirty="0" noProof="1">
                <ns1:solidFill>
                  <ns1:srgbClr val="475569"/>
                </ns1:solidFill>
              </ns1:rPr>
              <ns1:t>assembleDebug — APK собран</ns1:t>
            </ns1:r>
            <ns1:endParaRPr lang="en-US" sz="1300" dirty="0"/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5">
    <ns0:bg>
      <ns0:bgPr>
        <ns1:solidFill>
          <ns1:srgbClr val="F7FAF8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09728"/>
          </ns1:xfrm>
          <ns1:prstGeom prst="rect">
            <ns1:avLst/>
          </ns1:prstGeom>
          <ns1:solidFill>
            <ns1:srgbClr val="0F7A37"/>
          </ns1:solidFill>
          <ns1:ln w="12700">
            <ns1:solidFill>
              <ns1:srgbClr val="0F7A37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02920" y="310896"/>
            <ns1:ext cx="685800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ru-RU" sz="1400" b="1" dirty="0" noProof="1">
                <ns1:solidFill>
                  <ns1:srgbClr val="0F7A37"/>
                </ns1:solidFill>
              </ns1:rPr>
              <ns1:t>ВЫВОД</ns1:t>
            </ns1:r>
            <ns1:endParaRPr lang="en-US" sz="85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502920" y="621792"/>
            <ns1:ext cx="109728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700" b="1" dirty="0" noProof="1">
                <ns1:solidFill>
                  <ns1:srgbClr val="07111F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Итог: почему проект важен</ns1:t>
            </ns1:r>
            <ns1:endParaRPr lang="en-US" sz="27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8001000" y="6473952"/>
            <ns1:ext cx="36118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ru-RU" sz="1400" dirty="0" noProof="1">
                <ns1:solidFill>
                  <ns1:srgbClr val="64748B"/>
                </ns1:solidFill>
              </ns1:rPr>
              <ns1:t>FootAssist · приложение для школьного футбола</ns1:t>
            </ns1:r>
            <ns1:endParaRPr lang="en-US" sz="850" dirty="0"/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1298448"/>
            <ns1:ext cx="7315200" cy="9144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indent="0" marL="0">
              <ns1:buNone/>
            </ns1:pPr>
            <ns1:r>
              <ns1:rPr lang="ru-RU" sz="2800" b="1" dirty="0" noProof="1">
                <ns1:solidFill>
                  <ns1:srgbClr val="07111F"/>
                </ns1:solidFill>
              </ns1:rPr>
              <ns1:t>FootAssist — это не просто приложение про футбол, а цифровая среда для школьного спортивного развития.</ns1:t>
            </ns1:r>
            <ns1:endParaRPr lang="en-US" sz="280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868680" y="2578608"/>
            <ns1:ext cx="7132320" cy="2468880"/>
          </ns1:xfrm>
          <ns1:prstGeom prst="rect">
            <ns1:avLst/>
          </ns1:prstGeom>
          <ns1:noFill/>
          <ns1:ln/>
        </ns0:spPr>
        <ns0:txBody>
          <ns1:bodyPr wrap="square" lIns="635" tIns="635" rIns="635" bIns="635" rtlCol="0" anchor="t">
            <ns1:normAutofit/>
          </ns1:bodyPr>
          <ns1:lstStyle/>
          <ns1:p>
            <ns1:r>
              <ns1:rPr lang="ru-RU" sz="1400" dirty="0" noProof="1">
                <ns1:solidFill>
                  <ns1:srgbClr val="475569"/>
                </ns1:solidFill>
              </ns1:rPr>
              <ns1:t>Игрок получает понятный прогресс и мотивацию.</ns1:t>
            </ns1:r>
            <ns1:endParaRPr lang="en-US" sz="140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Тренер видит данные, состав, травмы и рекомендации.</ns1:t>
            </ns1:r>
            <ns1:endParaRPr lang="en-US" sz="140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Организатор ведет турнир прозрачнее.</ns1:t>
            </ns1:r>
            <ns1:endParaRPr lang="en-US" sz="140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Зрители открывают результаты по QR.</ns1:t>
            </ns1:r>
            <ns1:endParaRPr lang="en-US" sz="1400" dirty="0"/>
          </ns1:p>
          <ns1:p>
            <ns1:r>
              <ns1:rPr lang="ru-RU" sz="1400" dirty="0" noProof="1">
                <ns1:solidFill>
                  <ns1:srgbClr val="475569"/>
                </ns1:solidFill>
              </ns1:rPr>
              <ns1:t>Проект уже имеет рабочий веб-прототип и Android APK.</ns1:t>
            </ns1:r>
            <ns1:endParaRPr lang="en-US" sz="140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8522208" y="1353312"/>
            <ns1:ext cx="2331720" cy="2331720"/>
          </ns1:xfrm>
          <ns1:prstGeom prst="roundRect">
            <ns1:avLst>
              <ns1:gd name="adj" fmla="val 3137"/>
            </ns1:avLst>
          </ns1:prstGeom>
          <ns1:solidFill>
            <ns1:srgbClr val="FFFFFF"/>
          </ns1:solidFill>
          <ns1:ln w="12700">
            <ns1:solidFill>
              <ns1:srgbClr val="D7E3DC"/>
            </ns1:solidFill>
            <ns1:prstDash val="solid"/>
          </ns1:ln>
        </ns0:spPr>
      </ns0:sp>
      <ns0:pic>
        <ns0:nvPicPr>
          <ns0:cNvPr id="9" name="Image 0" descr="C:\Users\TamikFutboler\Desktop\FootAssist\competition\footassist_app_qr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8686800" y="1517904"/>
            <ns1:ext cx="2011680" cy="2011680"/>
          </ns1:xfrm>
          <ns1:prstGeom prst="rect">
            <ns1:avLst/>
          </ns1:prstGeom>
        </ns0:spPr>
      </ns0:pic>
      <ns0:sp>
        <ns0:nvSpPr>
          <ns0:cNvPr id="10" name="Text 7"/>
          <ns0:cNvSpPr/>
          <ns0:nvPr/>
        </ns0:nvSpPr>
        <ns0:spPr>
          <ns1:xfrm>
            <ns1:off x="7543800" y="4187952"/>
            <ns1:ext cx="429768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600" b="1" dirty="0" noProof="1">
                <ns1:solidFill>
                  <ns1:srgbClr val="0F7A37"/>
                </ns1:solidFill>
              </ns1:rPr>
              <ns1:t>Каждый матч виден. Каждый игрок растет.</ns1:t>
            </ns1:r>
            <ns1:endParaRPr lang="en-US" sz="1600" dirty="0"/>
          </ns1:p>
        </ns0:txBody>
      </ns0:sp>
      <ns0:sp>
        <ns0:nvSpPr>
          <ns0:cNvPr id="11" name="Text 8"/>
          <ns0:cNvSpPr/>
          <ns0:nvPr/>
        </ns0:nvSpPr>
        <ns0:spPr>
          <ns1:xfrm>
            <ns1:off x="7726680" y="4709160"/>
            <ns1:ext cx="393192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>
            <ns1:normAutofit/>
          </ns1:bodyPr>
          <ns1:lstStyle/>
          <ns1:p>
            <ns1:pPr algn="ctr" indent="0" marL="0">
              <ns1:buNone/>
            </ns1:pPr>
            <ns1:r>
              <ns1:rPr lang="ru-RU" sz="1400" dirty="0" noProof="1">
                <ns1:solidFill>
                  <ns1:srgbClr val="0F7A37"/>
                </ns1:solidFill>
              </ns1:rPr>
              <ns1:t>https://taaaaaaaaaaaaaaaamik.github.io/FootAssist/</ns1:t>
            </ns1:r>
            <ns1:endParaRPr lang="en-US" sz="100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Башкирская гимназия села Малояз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FootAssist — цифровая платформа для школьного футбола</dc:title>
  <dc:subject>Презентация приложения FootAssist</dc:subject>
  <dc:creator>FootAssist</dc:creator>
  <cp:lastModifiedBy>FootAssist</cp:lastModifiedBy>
  <cp:revision>1</cp:revision>
  <dcterms:created xsi:type="dcterms:W3CDTF">2026-05-20T13:49:14Z</dcterms:created>
  <dcterms:modified xsi:type="dcterms:W3CDTF">2026-05-20T13:49:14Z</dcterms:modified>
</cp:coreProperties>
</file>